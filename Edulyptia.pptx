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Liberation Sa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954" y="6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5656490" y="-1258366"/>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13975216" y="-8418134"/>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1989803" y="9381503"/>
            <a:ext cx="7700344" cy="6959565"/>
            <a:chOff x="0" y="0"/>
            <a:chExt cx="2028074" cy="1832972"/>
          </a:xfrm>
        </p:grpSpPr>
        <p:sp>
          <p:nvSpPr>
            <p:cNvPr id="10" name="Freeform 10"/>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11" name="TextBox 11"/>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rot="-2489216">
            <a:off x="-4237165" y="5222201"/>
            <a:ext cx="7700344" cy="13744574"/>
            <a:chOff x="0" y="0"/>
            <a:chExt cx="2028074" cy="3619970"/>
          </a:xfrm>
        </p:grpSpPr>
        <p:sp>
          <p:nvSpPr>
            <p:cNvPr id="13" name="Freeform 13"/>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14" name="TextBox 14"/>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rot="-2489216">
            <a:off x="14000460" y="-631168"/>
            <a:ext cx="7700344" cy="1959847"/>
            <a:chOff x="0" y="0"/>
            <a:chExt cx="2028074" cy="516174"/>
          </a:xfrm>
        </p:grpSpPr>
        <p:sp>
          <p:nvSpPr>
            <p:cNvPr id="16" name="Freeform 16"/>
            <p:cNvSpPr/>
            <p:nvPr/>
          </p:nvSpPr>
          <p:spPr>
            <a:xfrm>
              <a:off x="0" y="0"/>
              <a:ext cx="2028074" cy="516174"/>
            </a:xfrm>
            <a:custGeom>
              <a:avLst/>
              <a:gdLst/>
              <a:ahLst/>
              <a:cxnLst/>
              <a:rect l="l" t="t" r="r" b="b"/>
              <a:pathLst>
                <a:path w="2028074" h="516174">
                  <a:moveTo>
                    <a:pt x="0" y="0"/>
                  </a:moveTo>
                  <a:lnTo>
                    <a:pt x="2028074" y="0"/>
                  </a:lnTo>
                  <a:lnTo>
                    <a:pt x="2028074" y="516174"/>
                  </a:lnTo>
                  <a:lnTo>
                    <a:pt x="0" y="516174"/>
                  </a:lnTo>
                  <a:close/>
                </a:path>
              </a:pathLst>
            </a:custGeom>
            <a:solidFill>
              <a:srgbClr val="3F70B6"/>
            </a:solidFill>
          </p:spPr>
        </p:sp>
        <p:sp>
          <p:nvSpPr>
            <p:cNvPr id="17" name="TextBox 17"/>
            <p:cNvSpPr txBox="1"/>
            <p:nvPr/>
          </p:nvSpPr>
          <p:spPr>
            <a:xfrm>
              <a:off x="0" y="-38100"/>
              <a:ext cx="2028074" cy="55427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rot="-2489216">
            <a:off x="-3645692" y="10007098"/>
            <a:ext cx="7700344" cy="1972618"/>
            <a:chOff x="0" y="0"/>
            <a:chExt cx="2028074" cy="519537"/>
          </a:xfrm>
        </p:grpSpPr>
        <p:sp>
          <p:nvSpPr>
            <p:cNvPr id="19" name="Freeform 19"/>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20" name="TextBox 20"/>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12191614" y="8555494"/>
            <a:ext cx="5067686" cy="702806"/>
            <a:chOff x="0" y="0"/>
            <a:chExt cx="1334699" cy="185101"/>
          </a:xfrm>
        </p:grpSpPr>
        <p:sp>
          <p:nvSpPr>
            <p:cNvPr id="22" name="Freeform 22"/>
            <p:cNvSpPr/>
            <p:nvPr/>
          </p:nvSpPr>
          <p:spPr>
            <a:xfrm>
              <a:off x="0" y="0"/>
              <a:ext cx="1334699" cy="185101"/>
            </a:xfrm>
            <a:custGeom>
              <a:avLst/>
              <a:gdLst/>
              <a:ahLst/>
              <a:cxnLst/>
              <a:rect l="l" t="t" r="r" b="b"/>
              <a:pathLst>
                <a:path w="1334699" h="185101">
                  <a:moveTo>
                    <a:pt x="92551" y="0"/>
                  </a:moveTo>
                  <a:lnTo>
                    <a:pt x="1242149" y="0"/>
                  </a:lnTo>
                  <a:cubicBezTo>
                    <a:pt x="1266694" y="0"/>
                    <a:pt x="1290235" y="9751"/>
                    <a:pt x="1307592" y="27107"/>
                  </a:cubicBezTo>
                  <a:cubicBezTo>
                    <a:pt x="1324948" y="44464"/>
                    <a:pt x="1334699" y="68005"/>
                    <a:pt x="1334699" y="92551"/>
                  </a:cubicBezTo>
                  <a:lnTo>
                    <a:pt x="1334699" y="92551"/>
                  </a:lnTo>
                  <a:cubicBezTo>
                    <a:pt x="1334699" y="143665"/>
                    <a:pt x="1293263" y="185101"/>
                    <a:pt x="1242149"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3" name="TextBox 23"/>
            <p:cNvSpPr txBox="1"/>
            <p:nvPr/>
          </p:nvSpPr>
          <p:spPr>
            <a:xfrm>
              <a:off x="0" y="-38100"/>
              <a:ext cx="1334699" cy="223201"/>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1028700" y="1028700"/>
            <a:ext cx="4198153" cy="702806"/>
            <a:chOff x="0" y="0"/>
            <a:chExt cx="1105686" cy="185101"/>
          </a:xfrm>
        </p:grpSpPr>
        <p:sp>
          <p:nvSpPr>
            <p:cNvPr id="25" name="Freeform 25"/>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6" name="TextBox 26"/>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7" name="TextBox 27"/>
          <p:cNvSpPr txBox="1"/>
          <p:nvPr/>
        </p:nvSpPr>
        <p:spPr>
          <a:xfrm>
            <a:off x="3944700" y="5727409"/>
            <a:ext cx="10398599" cy="1853665"/>
          </a:xfrm>
          <a:prstGeom prst="rect">
            <a:avLst/>
          </a:prstGeom>
        </p:spPr>
        <p:txBody>
          <a:bodyPr lIns="0" tIns="0" rIns="0" bIns="0" rtlCol="0" anchor="t">
            <a:spAutoFit/>
          </a:bodyPr>
          <a:lstStyle/>
          <a:p>
            <a:pPr marL="0" lvl="0" indent="0" algn="ctr">
              <a:lnSpc>
                <a:spcPts val="4728"/>
              </a:lnSpc>
            </a:pPr>
            <a:r>
              <a:rPr lang="en-US" sz="4728">
                <a:solidFill>
                  <a:srgbClr val="193B6A"/>
                </a:solidFill>
                <a:latin typeface="Arial"/>
                <a:ea typeface="Arial"/>
                <a:cs typeface="Arial"/>
                <a:sym typeface="Arial"/>
              </a:rPr>
              <a:t>Understanding Kernel Modules through a Hello World Example</a:t>
            </a:r>
          </a:p>
          <a:p>
            <a:pPr marL="0" lvl="0" indent="0" algn="ctr">
              <a:lnSpc>
                <a:spcPts val="4728"/>
              </a:lnSpc>
            </a:pPr>
            <a:r>
              <a:rPr lang="en-US" sz="4728">
                <a:solidFill>
                  <a:srgbClr val="193B6A"/>
                </a:solidFill>
                <a:latin typeface="Arial"/>
                <a:ea typeface="Arial"/>
                <a:cs typeface="Arial"/>
                <a:sym typeface="Arial"/>
              </a:rPr>
              <a:t>Ankan Dey | Roll Number: 25AG10026</a:t>
            </a:r>
          </a:p>
        </p:txBody>
      </p:sp>
      <p:sp>
        <p:nvSpPr>
          <p:cNvPr id="28" name="TextBox 28"/>
          <p:cNvSpPr txBox="1"/>
          <p:nvPr/>
        </p:nvSpPr>
        <p:spPr>
          <a:xfrm>
            <a:off x="2632672" y="3746255"/>
            <a:ext cx="13022655" cy="1898209"/>
          </a:xfrm>
          <a:prstGeom prst="rect">
            <a:avLst/>
          </a:prstGeom>
        </p:spPr>
        <p:txBody>
          <a:bodyPr lIns="0" tIns="0" rIns="0" bIns="0" rtlCol="0" anchor="t">
            <a:spAutoFit/>
          </a:bodyPr>
          <a:lstStyle/>
          <a:p>
            <a:pPr marL="0" lvl="0" indent="0" algn="ctr">
              <a:lnSpc>
                <a:spcPts val="7586"/>
              </a:lnSpc>
            </a:pPr>
            <a:r>
              <a:rPr lang="en-US" sz="5418" b="1" spc="37" dirty="0">
                <a:solidFill>
                  <a:srgbClr val="193B6A"/>
                </a:solidFill>
                <a:latin typeface="Liberation Sans Bold"/>
                <a:ea typeface="Liberation Sans Bold"/>
                <a:cs typeface="Liberation Sans Bold"/>
                <a:sym typeface="Liberation Sans Bold"/>
              </a:rPr>
              <a:t>LINUX KERNEL MODULES &amp; THE EUDYPTULA CHALLENGE FIRST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989803" y="9381503"/>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4237165" y="5222201"/>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3645692" y="10007098"/>
            <a:ext cx="7700344" cy="1972618"/>
            <a:chOff x="0" y="0"/>
            <a:chExt cx="2028074" cy="519537"/>
          </a:xfrm>
        </p:grpSpPr>
        <p:sp>
          <p:nvSpPr>
            <p:cNvPr id="10" name="Freeform 1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11" name="TextBox 1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AutoShape 12"/>
          <p:cNvSpPr/>
          <p:nvPr/>
        </p:nvSpPr>
        <p:spPr>
          <a:xfrm>
            <a:off x="5627689" y="9277350"/>
            <a:ext cx="10329387" cy="0"/>
          </a:xfrm>
          <a:prstGeom prst="line">
            <a:avLst/>
          </a:prstGeom>
          <a:ln w="38100" cap="flat">
            <a:solidFill>
              <a:srgbClr val="34609F"/>
            </a:solidFill>
            <a:prstDash val="solid"/>
            <a:headEnd type="none" w="sm" len="sm"/>
            <a:tailEnd type="none" w="sm" len="sm"/>
          </a:ln>
        </p:spPr>
      </p:sp>
      <p:sp>
        <p:nvSpPr>
          <p:cNvPr id="13" name="TextBox 13"/>
          <p:cNvSpPr txBox="1"/>
          <p:nvPr/>
        </p:nvSpPr>
        <p:spPr>
          <a:xfrm>
            <a:off x="16291173" y="8740686"/>
            <a:ext cx="968127" cy="492541"/>
          </a:xfrm>
          <a:prstGeom prst="rect">
            <a:avLst/>
          </a:prstGeom>
        </p:spPr>
        <p:txBody>
          <a:bodyPr lIns="0" tIns="0" rIns="0" bIns="0" rtlCol="0" anchor="t">
            <a:spAutoFit/>
          </a:bodyPr>
          <a:lstStyle/>
          <a:p>
            <a:pPr marL="0" lvl="0" indent="0" algn="ctr">
              <a:lnSpc>
                <a:spcPts val="3827"/>
              </a:lnSpc>
            </a:pPr>
            <a:r>
              <a:rPr lang="en-US" sz="2733" b="1" spc="19">
                <a:solidFill>
                  <a:srgbClr val="193B6A"/>
                </a:solidFill>
                <a:latin typeface="Liberation Sans Bold"/>
                <a:ea typeface="Liberation Sans Bold"/>
                <a:cs typeface="Liberation Sans Bold"/>
                <a:sym typeface="Liberation Sans Bold"/>
              </a:rPr>
              <a:t>02</a:t>
            </a:r>
          </a:p>
        </p:txBody>
      </p:sp>
      <p:grpSp>
        <p:nvGrpSpPr>
          <p:cNvPr id="14" name="Group 14"/>
          <p:cNvGrpSpPr/>
          <p:nvPr/>
        </p:nvGrpSpPr>
        <p:grpSpPr>
          <a:xfrm>
            <a:off x="11263993" y="4167821"/>
            <a:ext cx="5995307" cy="3740992"/>
            <a:chOff x="0" y="0"/>
            <a:chExt cx="928830" cy="579578"/>
          </a:xfrm>
        </p:grpSpPr>
        <p:sp>
          <p:nvSpPr>
            <p:cNvPr id="15" name="Freeform 15"/>
            <p:cNvSpPr/>
            <p:nvPr/>
          </p:nvSpPr>
          <p:spPr>
            <a:xfrm>
              <a:off x="0" y="0"/>
              <a:ext cx="928830" cy="579578"/>
            </a:xfrm>
            <a:custGeom>
              <a:avLst/>
              <a:gdLst/>
              <a:ahLst/>
              <a:cxnLst/>
              <a:rect l="l" t="t" r="r" b="b"/>
              <a:pathLst>
                <a:path w="928830" h="579578">
                  <a:moveTo>
                    <a:pt x="0" y="0"/>
                  </a:moveTo>
                  <a:lnTo>
                    <a:pt x="928830" y="0"/>
                  </a:lnTo>
                  <a:lnTo>
                    <a:pt x="928830" y="579578"/>
                  </a:lnTo>
                  <a:lnTo>
                    <a:pt x="0" y="579578"/>
                  </a:lnTo>
                  <a:close/>
                </a:path>
              </a:pathLst>
            </a:custGeom>
            <a:blipFill>
              <a:blip r:embed="rId3"/>
              <a:stretch>
                <a:fillRect t="-3987" b="-3987"/>
              </a:stretch>
            </a:blipFill>
          </p:spPr>
        </p:sp>
      </p:grpSp>
      <p:sp>
        <p:nvSpPr>
          <p:cNvPr id="16" name="TextBox 16"/>
          <p:cNvSpPr txBox="1"/>
          <p:nvPr/>
        </p:nvSpPr>
        <p:spPr>
          <a:xfrm>
            <a:off x="5627689" y="2245897"/>
            <a:ext cx="10329387" cy="749525"/>
          </a:xfrm>
          <a:prstGeom prst="rect">
            <a:avLst/>
          </a:prstGeom>
        </p:spPr>
        <p:txBody>
          <a:bodyPr lIns="0" tIns="0" rIns="0" bIns="0" rtlCol="0" anchor="t">
            <a:spAutoFit/>
          </a:bodyPr>
          <a:lstStyle/>
          <a:p>
            <a:pPr marL="0" lvl="0" indent="0" algn="l">
              <a:lnSpc>
                <a:spcPts val="5937"/>
              </a:lnSpc>
            </a:pPr>
            <a:r>
              <a:rPr lang="en-US" sz="4241" b="1" spc="29">
                <a:solidFill>
                  <a:srgbClr val="193B6A"/>
                </a:solidFill>
                <a:latin typeface="Liberation Sans Bold"/>
                <a:ea typeface="Liberation Sans Bold"/>
                <a:cs typeface="Liberation Sans Bold"/>
                <a:sym typeface="Liberation Sans Bold"/>
              </a:rPr>
              <a:t>WHAT ARE LINUX KERNEL MODULES?</a:t>
            </a:r>
          </a:p>
        </p:txBody>
      </p:sp>
      <p:sp>
        <p:nvSpPr>
          <p:cNvPr id="17" name="TextBox 17"/>
          <p:cNvSpPr txBox="1"/>
          <p:nvPr/>
        </p:nvSpPr>
        <p:spPr>
          <a:xfrm>
            <a:off x="5627689" y="4196396"/>
            <a:ext cx="5164693" cy="1756315"/>
          </a:xfrm>
          <a:prstGeom prst="rect">
            <a:avLst/>
          </a:prstGeom>
        </p:spPr>
        <p:txBody>
          <a:bodyPr lIns="0" tIns="0" rIns="0" bIns="0" rtlCol="0" anchor="t">
            <a:spAutoFit/>
          </a:bodyPr>
          <a:lstStyle/>
          <a:p>
            <a:pPr marL="0" lvl="0" indent="0" algn="l">
              <a:lnSpc>
                <a:spcPts val="2021"/>
              </a:lnSpc>
            </a:pPr>
            <a:r>
              <a:rPr lang="en-US" sz="2021">
                <a:solidFill>
                  <a:srgbClr val="193B6A"/>
                </a:solidFill>
                <a:latin typeface="Arial"/>
                <a:ea typeface="Arial"/>
                <a:cs typeface="Arial"/>
                <a:sym typeface="Arial"/>
              </a:rPr>
              <a:t>Kernel modules are loadable pieces of code that extend kernel functionality without rebooting. They can be loaded and unloaded on-demand, eliminating the need to recompile or reboot the kernel.</a:t>
            </a:r>
          </a:p>
          <a:p>
            <a:pPr marL="0" lvl="0" indent="0" algn="l">
              <a:lnSpc>
                <a:spcPts val="2021"/>
              </a:lnSpc>
            </a:pPr>
            <a:r>
              <a:rPr lang="en-US" sz="2021">
                <a:solidFill>
                  <a:srgbClr val="193B6A"/>
                </a:solidFill>
                <a:latin typeface="Arial"/>
                <a:ea typeface="Arial"/>
                <a:cs typeface="Arial"/>
                <a:sym typeface="Arial"/>
              </a:rPr>
              <a:t>Use lsmod to list currently loaded modules on your system.</a:t>
            </a:r>
          </a:p>
        </p:txBody>
      </p:sp>
      <p:grpSp>
        <p:nvGrpSpPr>
          <p:cNvPr id="18" name="Group 18"/>
          <p:cNvGrpSpPr/>
          <p:nvPr/>
        </p:nvGrpSpPr>
        <p:grpSpPr>
          <a:xfrm>
            <a:off x="13613213" y="742557"/>
            <a:ext cx="3646087" cy="610386"/>
            <a:chOff x="0" y="0"/>
            <a:chExt cx="1105686" cy="185101"/>
          </a:xfrm>
        </p:grpSpPr>
        <p:sp>
          <p:nvSpPr>
            <p:cNvPr id="19" name="Freeform 19"/>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0" name="TextBox 20"/>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13875609" y="843479"/>
            <a:ext cx="3121295" cy="189741"/>
          </a:xfrm>
          <a:prstGeom prst="rect">
            <a:avLst/>
          </a:prstGeom>
        </p:spPr>
        <p:txBody>
          <a:bodyPr lIns="0" tIns="0" rIns="0" bIns="0" rtlCol="0" anchor="t">
            <a:spAutoFit/>
          </a:bodyPr>
          <a:lstStyle/>
          <a:p>
            <a:pPr marL="0" lvl="0" indent="0" algn="ctr">
              <a:lnSpc>
                <a:spcPts val="1331"/>
              </a:lnSpc>
            </a:pPr>
            <a:r>
              <a:rPr lang="en-US" sz="1331">
                <a:solidFill>
                  <a:srgbClr val="F2F2F4"/>
                </a:solidFill>
                <a:latin typeface="Arial"/>
                <a:ea typeface="Arial"/>
                <a:cs typeface="Arial"/>
                <a:sym typeface="Arial"/>
              </a:rPr>
              <a:t>Linux Kernel Basics</a:t>
            </a:r>
          </a:p>
        </p:txBody>
      </p:sp>
      <p:grpSp>
        <p:nvGrpSpPr>
          <p:cNvPr id="22" name="Group 22"/>
          <p:cNvGrpSpPr/>
          <p:nvPr/>
        </p:nvGrpSpPr>
        <p:grpSpPr>
          <a:xfrm rot="7565067">
            <a:off x="-2579135" y="-5484611"/>
            <a:ext cx="7700344" cy="6959565"/>
            <a:chOff x="0" y="0"/>
            <a:chExt cx="2028074" cy="1832972"/>
          </a:xfrm>
        </p:grpSpPr>
        <p:sp>
          <p:nvSpPr>
            <p:cNvPr id="23" name="Freeform 23"/>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24" name="TextBox 24"/>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rot="7565067">
            <a:off x="-2101040" y="-7654979"/>
            <a:ext cx="7700344" cy="9087930"/>
            <a:chOff x="0" y="0"/>
            <a:chExt cx="2028074" cy="2393529"/>
          </a:xfrm>
        </p:grpSpPr>
        <p:sp>
          <p:nvSpPr>
            <p:cNvPr id="26" name="Freeform 26"/>
            <p:cNvSpPr/>
            <p:nvPr/>
          </p:nvSpPr>
          <p:spPr>
            <a:xfrm>
              <a:off x="0" y="0"/>
              <a:ext cx="2028074" cy="2393529"/>
            </a:xfrm>
            <a:custGeom>
              <a:avLst/>
              <a:gdLst/>
              <a:ahLst/>
              <a:cxnLst/>
              <a:rect l="l" t="t" r="r" b="b"/>
              <a:pathLst>
                <a:path w="2028074" h="2393529">
                  <a:moveTo>
                    <a:pt x="0" y="0"/>
                  </a:moveTo>
                  <a:lnTo>
                    <a:pt x="2028074" y="0"/>
                  </a:lnTo>
                  <a:lnTo>
                    <a:pt x="2028074" y="2393529"/>
                  </a:lnTo>
                  <a:lnTo>
                    <a:pt x="0" y="2393529"/>
                  </a:lnTo>
                  <a:close/>
                </a:path>
              </a:pathLst>
            </a:custGeom>
            <a:solidFill>
              <a:srgbClr val="5EA6E7"/>
            </a:solidFill>
          </p:spPr>
        </p:sp>
        <p:sp>
          <p:nvSpPr>
            <p:cNvPr id="27" name="TextBox 27"/>
            <p:cNvSpPr txBox="1"/>
            <p:nvPr/>
          </p:nvSpPr>
          <p:spPr>
            <a:xfrm>
              <a:off x="0" y="-38100"/>
              <a:ext cx="2028074" cy="24316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8" name="Group 28"/>
          <p:cNvGrpSpPr/>
          <p:nvPr/>
        </p:nvGrpSpPr>
        <p:grpSpPr>
          <a:xfrm rot="7565067">
            <a:off x="-560042" y="-1523419"/>
            <a:ext cx="7700344" cy="1972618"/>
            <a:chOff x="0" y="0"/>
            <a:chExt cx="2028074" cy="519537"/>
          </a:xfrm>
        </p:grpSpPr>
        <p:sp>
          <p:nvSpPr>
            <p:cNvPr id="29" name="Freeform 29"/>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30" name="TextBox 30"/>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989803" y="9381503"/>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4237165" y="5222201"/>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3645692" y="10007098"/>
            <a:ext cx="7700344" cy="1972618"/>
            <a:chOff x="0" y="0"/>
            <a:chExt cx="2028074" cy="519537"/>
          </a:xfrm>
        </p:grpSpPr>
        <p:sp>
          <p:nvSpPr>
            <p:cNvPr id="10" name="Freeform 1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11" name="TextBox 1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AutoShape 12"/>
          <p:cNvSpPr/>
          <p:nvPr/>
        </p:nvSpPr>
        <p:spPr>
          <a:xfrm>
            <a:off x="5627689" y="9277350"/>
            <a:ext cx="10329387" cy="0"/>
          </a:xfrm>
          <a:prstGeom prst="line">
            <a:avLst/>
          </a:prstGeom>
          <a:ln w="38100" cap="flat">
            <a:solidFill>
              <a:srgbClr val="34609F"/>
            </a:solidFill>
            <a:prstDash val="solid"/>
            <a:headEnd type="none" w="sm" len="sm"/>
            <a:tailEnd type="none" w="sm" len="sm"/>
          </a:ln>
        </p:spPr>
      </p:sp>
      <p:sp>
        <p:nvSpPr>
          <p:cNvPr id="13" name="TextBox 13"/>
          <p:cNvSpPr txBox="1"/>
          <p:nvPr/>
        </p:nvSpPr>
        <p:spPr>
          <a:xfrm>
            <a:off x="16291173" y="8750211"/>
            <a:ext cx="968127" cy="465511"/>
          </a:xfrm>
          <a:prstGeom prst="rect">
            <a:avLst/>
          </a:prstGeom>
        </p:spPr>
        <p:txBody>
          <a:bodyPr lIns="0" tIns="0" rIns="0" bIns="0" rtlCol="0" anchor="t">
            <a:spAutoFit/>
          </a:bodyPr>
          <a:lstStyle/>
          <a:p>
            <a:pPr marL="0" lvl="0" indent="0" algn="ctr">
              <a:lnSpc>
                <a:spcPts val="3741"/>
              </a:lnSpc>
            </a:pPr>
            <a:r>
              <a:rPr lang="en-US" sz="2672" b="1" spc="18">
                <a:solidFill>
                  <a:srgbClr val="193B6A"/>
                </a:solidFill>
                <a:latin typeface="Liberation Sans Bold"/>
                <a:ea typeface="Liberation Sans Bold"/>
                <a:cs typeface="Liberation Sans Bold"/>
                <a:sym typeface="Liberation Sans Bold"/>
              </a:rPr>
              <a:t>03</a:t>
            </a:r>
          </a:p>
        </p:txBody>
      </p:sp>
      <p:grpSp>
        <p:nvGrpSpPr>
          <p:cNvPr id="14" name="Group 14"/>
          <p:cNvGrpSpPr/>
          <p:nvPr/>
        </p:nvGrpSpPr>
        <p:grpSpPr>
          <a:xfrm>
            <a:off x="11263993" y="4167821"/>
            <a:ext cx="5995307" cy="3740992"/>
            <a:chOff x="0" y="0"/>
            <a:chExt cx="928830" cy="579578"/>
          </a:xfrm>
        </p:grpSpPr>
        <p:sp>
          <p:nvSpPr>
            <p:cNvPr id="15" name="Freeform 15"/>
            <p:cNvSpPr/>
            <p:nvPr/>
          </p:nvSpPr>
          <p:spPr>
            <a:xfrm>
              <a:off x="0" y="0"/>
              <a:ext cx="928830" cy="579578"/>
            </a:xfrm>
            <a:custGeom>
              <a:avLst/>
              <a:gdLst/>
              <a:ahLst/>
              <a:cxnLst/>
              <a:rect l="l" t="t" r="r" b="b"/>
              <a:pathLst>
                <a:path w="928830" h="579578">
                  <a:moveTo>
                    <a:pt x="0" y="0"/>
                  </a:moveTo>
                  <a:lnTo>
                    <a:pt x="928830" y="0"/>
                  </a:lnTo>
                  <a:lnTo>
                    <a:pt x="928830" y="579578"/>
                  </a:lnTo>
                  <a:lnTo>
                    <a:pt x="0" y="579578"/>
                  </a:lnTo>
                  <a:close/>
                </a:path>
              </a:pathLst>
            </a:custGeom>
            <a:blipFill>
              <a:blip r:embed="rId3"/>
              <a:stretch>
                <a:fillRect t="-3987" b="-3987"/>
              </a:stretch>
            </a:blipFill>
          </p:spPr>
        </p:sp>
      </p:grpSp>
      <p:sp>
        <p:nvSpPr>
          <p:cNvPr id="16" name="TextBox 16"/>
          <p:cNvSpPr txBox="1"/>
          <p:nvPr/>
        </p:nvSpPr>
        <p:spPr>
          <a:xfrm>
            <a:off x="5627689" y="2245897"/>
            <a:ext cx="10329387" cy="1466297"/>
          </a:xfrm>
          <a:prstGeom prst="rect">
            <a:avLst/>
          </a:prstGeom>
        </p:spPr>
        <p:txBody>
          <a:bodyPr lIns="0" tIns="0" rIns="0" bIns="0" rtlCol="0" anchor="t">
            <a:spAutoFit/>
          </a:bodyPr>
          <a:lstStyle/>
          <a:p>
            <a:pPr marL="0" lvl="0" indent="0" algn="l">
              <a:lnSpc>
                <a:spcPts val="5805"/>
              </a:lnSpc>
            </a:pPr>
            <a:r>
              <a:rPr lang="en-US" sz="4146" b="1" spc="29">
                <a:solidFill>
                  <a:srgbClr val="193B6A"/>
                </a:solidFill>
                <a:latin typeface="Liberation Sans Bold"/>
                <a:ea typeface="Liberation Sans Bold"/>
                <a:cs typeface="Liberation Sans Bold"/>
                <a:sym typeface="Liberation Sans Bold"/>
              </a:rPr>
              <a:t>THE EUDYPTULA CHALLENGE FIRST TASK</a:t>
            </a:r>
          </a:p>
        </p:txBody>
      </p:sp>
      <p:sp>
        <p:nvSpPr>
          <p:cNvPr id="17" name="TextBox 17"/>
          <p:cNvSpPr txBox="1"/>
          <p:nvPr/>
        </p:nvSpPr>
        <p:spPr>
          <a:xfrm>
            <a:off x="5627689" y="4215446"/>
            <a:ext cx="5164693" cy="4007165"/>
          </a:xfrm>
          <a:prstGeom prst="rect">
            <a:avLst/>
          </a:prstGeom>
        </p:spPr>
        <p:txBody>
          <a:bodyPr lIns="0" tIns="0" rIns="0" bIns="0" rtlCol="0" anchor="t">
            <a:spAutoFit/>
          </a:bodyPr>
          <a:lstStyle/>
          <a:p>
            <a:pPr marL="0" lvl="0" indent="0" algn="l">
              <a:lnSpc>
                <a:spcPts val="2887"/>
              </a:lnSpc>
            </a:pPr>
            <a:r>
              <a:rPr lang="en-US" sz="2887">
                <a:solidFill>
                  <a:srgbClr val="193B6A"/>
                </a:solidFill>
                <a:latin typeface="Arial"/>
                <a:ea typeface="Arial"/>
                <a:cs typeface="Arial"/>
                <a:sym typeface="Arial"/>
              </a:rPr>
              <a:t>Purpose: Introduce newcomers to Linux kernel development workflow.</a:t>
            </a:r>
          </a:p>
          <a:p>
            <a:pPr marL="0" lvl="0" indent="0" algn="l">
              <a:lnSpc>
                <a:spcPts val="2887"/>
              </a:lnSpc>
            </a:pPr>
            <a:r>
              <a:rPr lang="en-US" sz="2887">
                <a:solidFill>
                  <a:srgbClr val="193B6A"/>
                </a:solidFill>
                <a:latin typeface="Arial"/>
                <a:ea typeface="Arial"/>
                <a:cs typeface="Arial"/>
                <a:sym typeface="Arial"/>
              </a:rPr>
              <a:t>Task: Write a kernel module that prints "Hello World!" on load and "Goodbye World!" on unload.</a:t>
            </a:r>
          </a:p>
          <a:p>
            <a:pPr marL="0" lvl="0" indent="0" algn="l">
              <a:lnSpc>
                <a:spcPts val="2887"/>
              </a:lnSpc>
            </a:pPr>
            <a:r>
              <a:rPr lang="en-US" sz="2887">
                <a:solidFill>
                  <a:srgbClr val="193B6A"/>
                </a:solidFill>
                <a:latin typeface="Arial"/>
                <a:ea typeface="Arial"/>
                <a:cs typeface="Arial"/>
                <a:sym typeface="Arial"/>
              </a:rPr>
              <a:t>Requirement: Create a standalone Makefile to build the module for the current or specified kernel source.</a:t>
            </a:r>
          </a:p>
        </p:txBody>
      </p:sp>
      <p:grpSp>
        <p:nvGrpSpPr>
          <p:cNvPr id="18" name="Group 18"/>
          <p:cNvGrpSpPr/>
          <p:nvPr/>
        </p:nvGrpSpPr>
        <p:grpSpPr>
          <a:xfrm>
            <a:off x="13613213" y="742557"/>
            <a:ext cx="3646087" cy="610386"/>
            <a:chOff x="0" y="0"/>
            <a:chExt cx="1105686" cy="185101"/>
          </a:xfrm>
        </p:grpSpPr>
        <p:sp>
          <p:nvSpPr>
            <p:cNvPr id="19" name="Freeform 19"/>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0" name="TextBox 20"/>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13875609" y="833954"/>
            <a:ext cx="3121295" cy="190241"/>
          </a:xfrm>
          <a:prstGeom prst="rect">
            <a:avLst/>
          </a:prstGeom>
        </p:spPr>
        <p:txBody>
          <a:bodyPr lIns="0" tIns="0" rIns="0" bIns="0" rtlCol="0" anchor="t">
            <a:spAutoFit/>
          </a:bodyPr>
          <a:lstStyle/>
          <a:p>
            <a:pPr marL="0" lvl="0" indent="0" algn="ctr">
              <a:lnSpc>
                <a:spcPts val="1301"/>
              </a:lnSpc>
            </a:pPr>
            <a:r>
              <a:rPr lang="en-US" sz="1301">
                <a:solidFill>
                  <a:srgbClr val="F2F2F4"/>
                </a:solidFill>
                <a:latin typeface="Arial"/>
                <a:ea typeface="Arial"/>
                <a:cs typeface="Arial"/>
                <a:sym typeface="Arial"/>
              </a:rPr>
              <a:t>Task Overview</a:t>
            </a:r>
          </a:p>
        </p:txBody>
      </p:sp>
      <p:grpSp>
        <p:nvGrpSpPr>
          <p:cNvPr id="22" name="Group 22"/>
          <p:cNvGrpSpPr/>
          <p:nvPr/>
        </p:nvGrpSpPr>
        <p:grpSpPr>
          <a:xfrm rot="7565067">
            <a:off x="-2579135" y="-5484611"/>
            <a:ext cx="7700344" cy="6959565"/>
            <a:chOff x="0" y="0"/>
            <a:chExt cx="2028074" cy="1832972"/>
          </a:xfrm>
        </p:grpSpPr>
        <p:sp>
          <p:nvSpPr>
            <p:cNvPr id="23" name="Freeform 23"/>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24" name="TextBox 24"/>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rot="7565067">
            <a:off x="-2101040" y="-7654979"/>
            <a:ext cx="7700344" cy="9087930"/>
            <a:chOff x="0" y="0"/>
            <a:chExt cx="2028074" cy="2393529"/>
          </a:xfrm>
        </p:grpSpPr>
        <p:sp>
          <p:nvSpPr>
            <p:cNvPr id="26" name="Freeform 26"/>
            <p:cNvSpPr/>
            <p:nvPr/>
          </p:nvSpPr>
          <p:spPr>
            <a:xfrm>
              <a:off x="0" y="0"/>
              <a:ext cx="2028074" cy="2393529"/>
            </a:xfrm>
            <a:custGeom>
              <a:avLst/>
              <a:gdLst/>
              <a:ahLst/>
              <a:cxnLst/>
              <a:rect l="l" t="t" r="r" b="b"/>
              <a:pathLst>
                <a:path w="2028074" h="2393529">
                  <a:moveTo>
                    <a:pt x="0" y="0"/>
                  </a:moveTo>
                  <a:lnTo>
                    <a:pt x="2028074" y="0"/>
                  </a:lnTo>
                  <a:lnTo>
                    <a:pt x="2028074" y="2393529"/>
                  </a:lnTo>
                  <a:lnTo>
                    <a:pt x="0" y="2393529"/>
                  </a:lnTo>
                  <a:close/>
                </a:path>
              </a:pathLst>
            </a:custGeom>
            <a:solidFill>
              <a:srgbClr val="5EA6E7"/>
            </a:solidFill>
          </p:spPr>
        </p:sp>
        <p:sp>
          <p:nvSpPr>
            <p:cNvPr id="27" name="TextBox 27"/>
            <p:cNvSpPr txBox="1"/>
            <p:nvPr/>
          </p:nvSpPr>
          <p:spPr>
            <a:xfrm>
              <a:off x="0" y="-38100"/>
              <a:ext cx="2028074" cy="24316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8" name="Group 28"/>
          <p:cNvGrpSpPr/>
          <p:nvPr/>
        </p:nvGrpSpPr>
        <p:grpSpPr>
          <a:xfrm rot="7565067">
            <a:off x="-560042" y="-1523419"/>
            <a:ext cx="7700344" cy="1972618"/>
            <a:chOff x="0" y="0"/>
            <a:chExt cx="2028074" cy="519537"/>
          </a:xfrm>
        </p:grpSpPr>
        <p:sp>
          <p:nvSpPr>
            <p:cNvPr id="29" name="Freeform 29"/>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30" name="TextBox 30"/>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989803" y="9381503"/>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4237165" y="5222201"/>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3645692" y="10007098"/>
            <a:ext cx="7700344" cy="1972618"/>
            <a:chOff x="0" y="0"/>
            <a:chExt cx="2028074" cy="519537"/>
          </a:xfrm>
        </p:grpSpPr>
        <p:sp>
          <p:nvSpPr>
            <p:cNvPr id="10" name="Freeform 1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11" name="TextBox 1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AutoShape 12"/>
          <p:cNvSpPr/>
          <p:nvPr/>
        </p:nvSpPr>
        <p:spPr>
          <a:xfrm>
            <a:off x="5627689" y="9277350"/>
            <a:ext cx="10329387" cy="0"/>
          </a:xfrm>
          <a:prstGeom prst="line">
            <a:avLst/>
          </a:prstGeom>
          <a:ln w="38100" cap="flat">
            <a:solidFill>
              <a:srgbClr val="34609F"/>
            </a:solidFill>
            <a:prstDash val="solid"/>
            <a:headEnd type="none" w="sm" len="sm"/>
            <a:tailEnd type="none" w="sm" len="sm"/>
          </a:ln>
        </p:spPr>
      </p:sp>
      <p:sp>
        <p:nvSpPr>
          <p:cNvPr id="13" name="TextBox 13"/>
          <p:cNvSpPr txBox="1"/>
          <p:nvPr/>
        </p:nvSpPr>
        <p:spPr>
          <a:xfrm>
            <a:off x="16291173" y="8750211"/>
            <a:ext cx="968127" cy="465511"/>
          </a:xfrm>
          <a:prstGeom prst="rect">
            <a:avLst/>
          </a:prstGeom>
        </p:spPr>
        <p:txBody>
          <a:bodyPr lIns="0" tIns="0" rIns="0" bIns="0" rtlCol="0" anchor="t">
            <a:spAutoFit/>
          </a:bodyPr>
          <a:lstStyle/>
          <a:p>
            <a:pPr marL="0" lvl="0" indent="0" algn="ctr">
              <a:lnSpc>
                <a:spcPts val="3741"/>
              </a:lnSpc>
            </a:pPr>
            <a:r>
              <a:rPr lang="en-US" sz="2672" b="1" spc="18">
                <a:solidFill>
                  <a:srgbClr val="193B6A"/>
                </a:solidFill>
                <a:latin typeface="Liberation Sans Bold"/>
                <a:ea typeface="Liberation Sans Bold"/>
                <a:cs typeface="Liberation Sans Bold"/>
                <a:sym typeface="Liberation Sans Bold"/>
              </a:rPr>
              <a:t>04</a:t>
            </a:r>
          </a:p>
        </p:txBody>
      </p:sp>
      <p:sp>
        <p:nvSpPr>
          <p:cNvPr id="14" name="TextBox 14"/>
          <p:cNvSpPr txBox="1"/>
          <p:nvPr/>
        </p:nvSpPr>
        <p:spPr>
          <a:xfrm>
            <a:off x="5627689" y="2041097"/>
            <a:ext cx="10329387" cy="1466297"/>
          </a:xfrm>
          <a:prstGeom prst="rect">
            <a:avLst/>
          </a:prstGeom>
        </p:spPr>
        <p:txBody>
          <a:bodyPr lIns="0" tIns="0" rIns="0" bIns="0" rtlCol="0" anchor="t">
            <a:spAutoFit/>
          </a:bodyPr>
          <a:lstStyle/>
          <a:p>
            <a:pPr marL="0" lvl="0" indent="0" algn="l">
              <a:lnSpc>
                <a:spcPts val="5805"/>
              </a:lnSpc>
            </a:pPr>
            <a:r>
              <a:rPr lang="en-US" sz="4146" b="1" spc="29">
                <a:solidFill>
                  <a:srgbClr val="193B6A"/>
                </a:solidFill>
                <a:latin typeface="Liberation Sans Bold"/>
                <a:ea typeface="Liberation Sans Bold"/>
                <a:cs typeface="Liberation Sans Bold"/>
                <a:sym typeface="Liberation Sans Bold"/>
              </a:rPr>
              <a:t>KERNEL MODULE SOURCE CODE OVERVIEW</a:t>
            </a:r>
          </a:p>
        </p:txBody>
      </p:sp>
      <p:sp>
        <p:nvSpPr>
          <p:cNvPr id="15" name="TextBox 15"/>
          <p:cNvSpPr txBox="1"/>
          <p:nvPr/>
        </p:nvSpPr>
        <p:spPr>
          <a:xfrm>
            <a:off x="5627689" y="4010646"/>
            <a:ext cx="5164693" cy="2921315"/>
          </a:xfrm>
          <a:prstGeom prst="rect">
            <a:avLst/>
          </a:prstGeom>
        </p:spPr>
        <p:txBody>
          <a:bodyPr lIns="0" tIns="0" rIns="0" bIns="0" rtlCol="0" anchor="t">
            <a:spAutoFit/>
          </a:bodyPr>
          <a:lstStyle/>
          <a:p>
            <a:pPr marL="0" lvl="0" indent="0" algn="l">
              <a:lnSpc>
                <a:spcPts val="2887"/>
              </a:lnSpc>
            </a:pPr>
            <a:r>
              <a:rPr lang="en-US" sz="2887">
                <a:solidFill>
                  <a:srgbClr val="193B6A"/>
                </a:solidFill>
                <a:latin typeface="Arial"/>
                <a:ea typeface="Arial"/>
                <a:cs typeface="Arial"/>
                <a:sym typeface="Arial"/>
              </a:rPr>
              <a:t>• Includes: linux/init.h, linux/module.h, linux/kernel.h</a:t>
            </a:r>
          </a:p>
          <a:p>
            <a:pPr marL="0" lvl="0" indent="0" algn="l">
              <a:lnSpc>
                <a:spcPts val="2887"/>
              </a:lnSpc>
            </a:pPr>
            <a:r>
              <a:rPr lang="en-US" sz="2887">
                <a:solidFill>
                  <a:srgbClr val="193B6A"/>
                </a:solidFill>
                <a:latin typeface="Arial"/>
                <a:ea typeface="Arial"/>
                <a:cs typeface="Arial"/>
                <a:sym typeface="Arial"/>
              </a:rPr>
              <a:t>• Metadata macros define module information:</a:t>
            </a:r>
          </a:p>
          <a:p>
            <a:pPr marL="623392" lvl="1" indent="-311696" algn="l">
              <a:lnSpc>
                <a:spcPts val="2887"/>
              </a:lnSpc>
              <a:buFont typeface="Arial"/>
              <a:buChar char="•"/>
            </a:pPr>
            <a:r>
              <a:rPr lang="en-US" sz="2887">
                <a:solidFill>
                  <a:srgbClr val="193B6A"/>
                </a:solidFill>
                <a:latin typeface="Arial"/>
                <a:ea typeface="Arial"/>
                <a:cs typeface="Arial"/>
                <a:sym typeface="Arial"/>
              </a:rPr>
              <a:t>MODULE_LICENSE</a:t>
            </a:r>
          </a:p>
          <a:p>
            <a:pPr marL="623392" lvl="1" indent="-311696" algn="l">
              <a:lnSpc>
                <a:spcPts val="2887"/>
              </a:lnSpc>
              <a:buFont typeface="Arial"/>
              <a:buChar char="•"/>
            </a:pPr>
            <a:r>
              <a:rPr lang="en-US" sz="2887">
                <a:solidFill>
                  <a:srgbClr val="193B6A"/>
                </a:solidFill>
                <a:latin typeface="Arial"/>
                <a:ea typeface="Arial"/>
                <a:cs typeface="Arial"/>
                <a:sym typeface="Arial"/>
              </a:rPr>
              <a:t>MODULE_AUTHOR</a:t>
            </a:r>
          </a:p>
          <a:p>
            <a:pPr marL="623392" lvl="1" indent="-311696" algn="l">
              <a:lnSpc>
                <a:spcPts val="2887"/>
              </a:lnSpc>
              <a:buFont typeface="Arial"/>
              <a:buChar char="•"/>
            </a:pPr>
            <a:r>
              <a:rPr lang="en-US" sz="2887">
                <a:solidFill>
                  <a:srgbClr val="193B6A"/>
                </a:solidFill>
                <a:latin typeface="Arial"/>
                <a:ea typeface="Arial"/>
                <a:cs typeface="Arial"/>
                <a:sym typeface="Arial"/>
              </a:rPr>
              <a:t>MODULE_DESCRIPTION</a:t>
            </a:r>
          </a:p>
          <a:p>
            <a:pPr marL="623392" lvl="1" indent="-311696" algn="l">
              <a:lnSpc>
                <a:spcPts val="2887"/>
              </a:lnSpc>
              <a:buFont typeface="Arial"/>
              <a:buChar char="•"/>
            </a:pPr>
            <a:r>
              <a:rPr lang="en-US" sz="2887">
                <a:solidFill>
                  <a:srgbClr val="193B6A"/>
                </a:solidFill>
                <a:latin typeface="Arial"/>
                <a:ea typeface="Arial"/>
                <a:cs typeface="Arial"/>
                <a:sym typeface="Arial"/>
              </a:rPr>
              <a:t>MODULE_VERSION</a:t>
            </a:r>
          </a:p>
        </p:txBody>
      </p:sp>
      <p:sp>
        <p:nvSpPr>
          <p:cNvPr id="16" name="TextBox 16"/>
          <p:cNvSpPr txBox="1"/>
          <p:nvPr/>
        </p:nvSpPr>
        <p:spPr>
          <a:xfrm>
            <a:off x="10792382" y="4001121"/>
            <a:ext cx="5164693" cy="3204525"/>
          </a:xfrm>
          <a:prstGeom prst="rect">
            <a:avLst/>
          </a:prstGeom>
        </p:spPr>
        <p:txBody>
          <a:bodyPr lIns="0" tIns="0" rIns="0" bIns="0" rtlCol="0" anchor="t">
            <a:spAutoFit/>
          </a:bodyPr>
          <a:lstStyle/>
          <a:p>
            <a:pPr marL="0" lvl="0" indent="0" algn="l">
              <a:lnSpc>
                <a:spcPts val="2787"/>
              </a:lnSpc>
            </a:pPr>
            <a:r>
              <a:rPr lang="en-US" sz="2787">
                <a:solidFill>
                  <a:srgbClr val="193B6A"/>
                </a:solidFill>
                <a:latin typeface="Arial"/>
                <a:ea typeface="Arial"/>
                <a:cs typeface="Arial"/>
                <a:sym typeface="Arial"/>
              </a:rPr>
              <a:t>• Two main functions structure the module:</a:t>
            </a:r>
          </a:p>
          <a:p>
            <a:pPr marL="601802" lvl="1" indent="-300901" algn="l">
              <a:lnSpc>
                <a:spcPts val="2787"/>
              </a:lnSpc>
              <a:buFont typeface="Arial"/>
              <a:buChar char="•"/>
            </a:pPr>
            <a:r>
              <a:rPr lang="en-US" sz="2787">
                <a:solidFill>
                  <a:srgbClr val="193B6A"/>
                </a:solidFill>
                <a:latin typeface="Arial"/>
                <a:ea typeface="Arial"/>
                <a:cs typeface="Arial"/>
                <a:sym typeface="Arial"/>
              </a:rPr>
              <a:t>hello_init: initialization function</a:t>
            </a:r>
          </a:p>
          <a:p>
            <a:pPr marL="601802" lvl="1" indent="-300901" algn="l">
              <a:lnSpc>
                <a:spcPts val="2787"/>
              </a:lnSpc>
              <a:buFont typeface="Arial"/>
              <a:buChar char="•"/>
            </a:pPr>
            <a:r>
              <a:rPr lang="en-US" sz="2787">
                <a:solidFill>
                  <a:srgbClr val="193B6A"/>
                </a:solidFill>
                <a:latin typeface="Arial"/>
                <a:ea typeface="Arial"/>
                <a:cs typeface="Arial"/>
                <a:sym typeface="Arial"/>
              </a:rPr>
              <a:t>hello_exit: cleanup function</a:t>
            </a:r>
          </a:p>
          <a:p>
            <a:pPr marL="0" lvl="0" indent="0" algn="l">
              <a:lnSpc>
                <a:spcPts val="2787"/>
              </a:lnSpc>
            </a:pPr>
            <a:r>
              <a:rPr lang="en-US" sz="2787">
                <a:solidFill>
                  <a:srgbClr val="193B6A"/>
                </a:solidFill>
                <a:latin typeface="Arial"/>
                <a:ea typeface="Arial"/>
                <a:cs typeface="Arial"/>
                <a:sym typeface="Arial"/>
              </a:rPr>
              <a:t>• Registration macros link functions:</a:t>
            </a:r>
          </a:p>
          <a:p>
            <a:pPr marL="601802" lvl="1" indent="-300901" algn="l">
              <a:lnSpc>
                <a:spcPts val="2787"/>
              </a:lnSpc>
              <a:buFont typeface="Arial"/>
              <a:buChar char="•"/>
            </a:pPr>
            <a:r>
              <a:rPr lang="en-US" sz="2787">
                <a:solidFill>
                  <a:srgbClr val="193B6A"/>
                </a:solidFill>
                <a:latin typeface="Arial"/>
                <a:ea typeface="Arial"/>
                <a:cs typeface="Arial"/>
                <a:sym typeface="Arial"/>
              </a:rPr>
              <a:t>module_init(hello_init)</a:t>
            </a:r>
          </a:p>
          <a:p>
            <a:pPr marL="601802" lvl="1" indent="-300901" algn="l">
              <a:lnSpc>
                <a:spcPts val="2787"/>
              </a:lnSpc>
              <a:buFont typeface="Arial"/>
              <a:buChar char="•"/>
            </a:pPr>
            <a:r>
              <a:rPr lang="en-US" sz="2787">
                <a:solidFill>
                  <a:srgbClr val="193B6A"/>
                </a:solidFill>
                <a:latin typeface="Arial"/>
                <a:ea typeface="Arial"/>
                <a:cs typeface="Arial"/>
                <a:sym typeface="Arial"/>
              </a:rPr>
              <a:t>module_exit(hello_exit)</a:t>
            </a:r>
          </a:p>
        </p:txBody>
      </p:sp>
      <p:grpSp>
        <p:nvGrpSpPr>
          <p:cNvPr id="17" name="Group 17"/>
          <p:cNvGrpSpPr/>
          <p:nvPr/>
        </p:nvGrpSpPr>
        <p:grpSpPr>
          <a:xfrm>
            <a:off x="13613213" y="742557"/>
            <a:ext cx="3646087" cy="610386"/>
            <a:chOff x="0" y="0"/>
            <a:chExt cx="1105686" cy="185101"/>
          </a:xfrm>
        </p:grpSpPr>
        <p:sp>
          <p:nvSpPr>
            <p:cNvPr id="18" name="Freeform 18"/>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19" name="TextBox 19"/>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0" name="TextBox 20"/>
          <p:cNvSpPr txBox="1"/>
          <p:nvPr/>
        </p:nvSpPr>
        <p:spPr>
          <a:xfrm>
            <a:off x="13875609" y="833954"/>
            <a:ext cx="3121295" cy="190241"/>
          </a:xfrm>
          <a:prstGeom prst="rect">
            <a:avLst/>
          </a:prstGeom>
        </p:spPr>
        <p:txBody>
          <a:bodyPr lIns="0" tIns="0" rIns="0" bIns="0" rtlCol="0" anchor="t">
            <a:spAutoFit/>
          </a:bodyPr>
          <a:lstStyle/>
          <a:p>
            <a:pPr marL="0" lvl="0" indent="0" algn="ctr">
              <a:lnSpc>
                <a:spcPts val="1301"/>
              </a:lnSpc>
            </a:pPr>
            <a:r>
              <a:rPr lang="en-US" sz="1301">
                <a:solidFill>
                  <a:srgbClr val="F2F2F4"/>
                </a:solidFill>
                <a:latin typeface="Arial"/>
                <a:ea typeface="Arial"/>
                <a:cs typeface="Arial"/>
                <a:sym typeface="Arial"/>
              </a:rPr>
              <a:t>hello.c Structure</a:t>
            </a:r>
          </a:p>
        </p:txBody>
      </p:sp>
      <p:grpSp>
        <p:nvGrpSpPr>
          <p:cNvPr id="21" name="Group 21"/>
          <p:cNvGrpSpPr/>
          <p:nvPr/>
        </p:nvGrpSpPr>
        <p:grpSpPr>
          <a:xfrm rot="7565067">
            <a:off x="-2579135" y="-5484611"/>
            <a:ext cx="7700344" cy="6959565"/>
            <a:chOff x="0" y="0"/>
            <a:chExt cx="2028074" cy="1832972"/>
          </a:xfrm>
        </p:grpSpPr>
        <p:sp>
          <p:nvSpPr>
            <p:cNvPr id="22" name="Freeform 22"/>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23" name="TextBox 23"/>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4" name="Group 24"/>
          <p:cNvGrpSpPr/>
          <p:nvPr/>
        </p:nvGrpSpPr>
        <p:grpSpPr>
          <a:xfrm rot="7565067">
            <a:off x="-2101040" y="-7654979"/>
            <a:ext cx="7700344" cy="9087930"/>
            <a:chOff x="0" y="0"/>
            <a:chExt cx="2028074" cy="2393529"/>
          </a:xfrm>
        </p:grpSpPr>
        <p:sp>
          <p:nvSpPr>
            <p:cNvPr id="25" name="Freeform 25"/>
            <p:cNvSpPr/>
            <p:nvPr/>
          </p:nvSpPr>
          <p:spPr>
            <a:xfrm>
              <a:off x="0" y="0"/>
              <a:ext cx="2028074" cy="2393529"/>
            </a:xfrm>
            <a:custGeom>
              <a:avLst/>
              <a:gdLst/>
              <a:ahLst/>
              <a:cxnLst/>
              <a:rect l="l" t="t" r="r" b="b"/>
              <a:pathLst>
                <a:path w="2028074" h="2393529">
                  <a:moveTo>
                    <a:pt x="0" y="0"/>
                  </a:moveTo>
                  <a:lnTo>
                    <a:pt x="2028074" y="0"/>
                  </a:lnTo>
                  <a:lnTo>
                    <a:pt x="2028074" y="2393529"/>
                  </a:lnTo>
                  <a:lnTo>
                    <a:pt x="0" y="2393529"/>
                  </a:lnTo>
                  <a:close/>
                </a:path>
              </a:pathLst>
            </a:custGeom>
            <a:solidFill>
              <a:srgbClr val="5EA6E7"/>
            </a:solidFill>
          </p:spPr>
        </p:sp>
        <p:sp>
          <p:nvSpPr>
            <p:cNvPr id="26" name="TextBox 26"/>
            <p:cNvSpPr txBox="1"/>
            <p:nvPr/>
          </p:nvSpPr>
          <p:spPr>
            <a:xfrm>
              <a:off x="0" y="-38100"/>
              <a:ext cx="2028074" cy="24316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7" name="Group 27"/>
          <p:cNvGrpSpPr/>
          <p:nvPr/>
        </p:nvGrpSpPr>
        <p:grpSpPr>
          <a:xfrm rot="7565067">
            <a:off x="-560042" y="-1523419"/>
            <a:ext cx="7700344" cy="1972618"/>
            <a:chOff x="0" y="0"/>
            <a:chExt cx="2028074" cy="519537"/>
          </a:xfrm>
        </p:grpSpPr>
        <p:sp>
          <p:nvSpPr>
            <p:cNvPr id="28" name="Freeform 28"/>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29" name="TextBox 29"/>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989803" y="9381503"/>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4237165" y="5222201"/>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3645692" y="10007098"/>
            <a:ext cx="7700344" cy="1972618"/>
            <a:chOff x="0" y="0"/>
            <a:chExt cx="2028074" cy="519537"/>
          </a:xfrm>
        </p:grpSpPr>
        <p:sp>
          <p:nvSpPr>
            <p:cNvPr id="10" name="Freeform 1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11" name="TextBox 1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AutoShape 12"/>
          <p:cNvSpPr/>
          <p:nvPr/>
        </p:nvSpPr>
        <p:spPr>
          <a:xfrm>
            <a:off x="5627689" y="9277350"/>
            <a:ext cx="10329387" cy="0"/>
          </a:xfrm>
          <a:prstGeom prst="line">
            <a:avLst/>
          </a:prstGeom>
          <a:ln w="38100" cap="flat">
            <a:solidFill>
              <a:srgbClr val="34609F"/>
            </a:solidFill>
            <a:prstDash val="solid"/>
            <a:headEnd type="none" w="sm" len="sm"/>
            <a:tailEnd type="none" w="sm" len="sm"/>
          </a:ln>
        </p:spPr>
      </p:sp>
      <p:sp>
        <p:nvSpPr>
          <p:cNvPr id="13" name="TextBox 13"/>
          <p:cNvSpPr txBox="1"/>
          <p:nvPr/>
        </p:nvSpPr>
        <p:spPr>
          <a:xfrm>
            <a:off x="16291173" y="8683536"/>
            <a:ext cx="968127" cy="965963"/>
          </a:xfrm>
          <a:prstGeom prst="rect">
            <a:avLst/>
          </a:prstGeom>
        </p:spPr>
        <p:txBody>
          <a:bodyPr lIns="0" tIns="0" rIns="0" bIns="0" rtlCol="0" anchor="t">
            <a:spAutoFit/>
          </a:bodyPr>
          <a:lstStyle/>
          <a:p>
            <a:pPr marL="0" lvl="0" indent="0" algn="ctr">
              <a:lnSpc>
                <a:spcPts val="7657"/>
              </a:lnSpc>
            </a:pPr>
            <a:r>
              <a:rPr lang="en-US" sz="5469" b="1" spc="38">
                <a:solidFill>
                  <a:srgbClr val="193B6A"/>
                </a:solidFill>
                <a:latin typeface="Liberation Sans Bold"/>
                <a:ea typeface="Liberation Sans Bold"/>
                <a:cs typeface="Liberation Sans Bold"/>
                <a:sym typeface="Liberation Sans Bold"/>
              </a:rPr>
              <a:t>05</a:t>
            </a:r>
          </a:p>
        </p:txBody>
      </p:sp>
      <p:sp>
        <p:nvSpPr>
          <p:cNvPr id="14" name="TextBox 14"/>
          <p:cNvSpPr txBox="1"/>
          <p:nvPr/>
        </p:nvSpPr>
        <p:spPr>
          <a:xfrm>
            <a:off x="5627689" y="2176108"/>
            <a:ext cx="10329387" cy="816140"/>
          </a:xfrm>
          <a:prstGeom prst="rect">
            <a:avLst/>
          </a:prstGeom>
        </p:spPr>
        <p:txBody>
          <a:bodyPr lIns="0" tIns="0" rIns="0" bIns="0" rtlCol="0" anchor="t">
            <a:spAutoFit/>
          </a:bodyPr>
          <a:lstStyle/>
          <a:p>
            <a:pPr marL="0" lvl="0" indent="0" algn="l">
              <a:lnSpc>
                <a:spcPts val="6465"/>
              </a:lnSpc>
            </a:pPr>
            <a:r>
              <a:rPr lang="en-US" sz="4618" b="1" spc="32">
                <a:solidFill>
                  <a:srgbClr val="193B6A"/>
                </a:solidFill>
                <a:latin typeface="Liberation Sans Bold"/>
                <a:ea typeface="Liberation Sans Bold"/>
                <a:cs typeface="Liberation Sans Bold"/>
                <a:sym typeface="Liberation Sans Bold"/>
              </a:rPr>
              <a:t>HELLO_INIT FUNCTION EXPLAINED</a:t>
            </a:r>
          </a:p>
        </p:txBody>
      </p:sp>
      <p:sp>
        <p:nvSpPr>
          <p:cNvPr id="15" name="TextBox 15"/>
          <p:cNvSpPr txBox="1"/>
          <p:nvPr/>
        </p:nvSpPr>
        <p:spPr>
          <a:xfrm>
            <a:off x="7256069" y="4145657"/>
            <a:ext cx="8701006" cy="1563220"/>
          </a:xfrm>
          <a:prstGeom prst="rect">
            <a:avLst/>
          </a:prstGeom>
        </p:spPr>
        <p:txBody>
          <a:bodyPr lIns="0" tIns="0" rIns="0" bIns="0" rtlCol="0" anchor="t">
            <a:spAutoFit/>
          </a:bodyPr>
          <a:lstStyle/>
          <a:p>
            <a:pPr marL="0" lvl="0" indent="0" algn="l">
              <a:lnSpc>
                <a:spcPts val="3044"/>
              </a:lnSpc>
            </a:pPr>
            <a:r>
              <a:rPr lang="en-US" sz="3044">
                <a:solidFill>
                  <a:srgbClr val="193B6A"/>
                </a:solidFill>
                <a:latin typeface="Arial"/>
                <a:ea typeface="Arial"/>
                <a:cs typeface="Arial"/>
                <a:sym typeface="Arial"/>
              </a:rPr>
              <a:t>static int __init hello_init(void): Marks the function as initialization code that runs when the module loads. The __init macro tells the kernel this code can be discarded after initialization.</a:t>
            </a:r>
          </a:p>
        </p:txBody>
      </p:sp>
      <p:sp>
        <p:nvSpPr>
          <p:cNvPr id="16" name="TextBox 16"/>
          <p:cNvSpPr txBox="1"/>
          <p:nvPr/>
        </p:nvSpPr>
        <p:spPr>
          <a:xfrm>
            <a:off x="5627689" y="3802408"/>
            <a:ext cx="1422050" cy="816140"/>
          </a:xfrm>
          <a:prstGeom prst="rect">
            <a:avLst/>
          </a:prstGeom>
        </p:spPr>
        <p:txBody>
          <a:bodyPr lIns="0" tIns="0" rIns="0" bIns="0" rtlCol="0" anchor="t">
            <a:spAutoFit/>
          </a:bodyPr>
          <a:lstStyle/>
          <a:p>
            <a:pPr marL="0" lvl="0" indent="0" algn="l">
              <a:lnSpc>
                <a:spcPts val="6465"/>
              </a:lnSpc>
            </a:pPr>
            <a:endParaRPr/>
          </a:p>
        </p:txBody>
      </p:sp>
      <p:sp>
        <p:nvSpPr>
          <p:cNvPr id="17" name="TextBox 17"/>
          <p:cNvSpPr txBox="1"/>
          <p:nvPr/>
        </p:nvSpPr>
        <p:spPr>
          <a:xfrm>
            <a:off x="7256069" y="6314186"/>
            <a:ext cx="8701006" cy="1944220"/>
          </a:xfrm>
          <a:prstGeom prst="rect">
            <a:avLst/>
          </a:prstGeom>
        </p:spPr>
        <p:txBody>
          <a:bodyPr lIns="0" tIns="0" rIns="0" bIns="0" rtlCol="0" anchor="t">
            <a:spAutoFit/>
          </a:bodyPr>
          <a:lstStyle/>
          <a:p>
            <a:pPr marL="0" lvl="0" indent="0" algn="l">
              <a:lnSpc>
                <a:spcPts val="3044"/>
              </a:lnSpc>
            </a:pPr>
            <a:r>
              <a:rPr lang="en-US" sz="3044">
                <a:solidFill>
                  <a:srgbClr val="193B6A"/>
                </a:solidFill>
                <a:latin typeface="Arial"/>
                <a:ea typeface="Arial"/>
                <a:cs typeface="Arial"/>
                <a:sym typeface="Arial"/>
              </a:rPr>
              <a:t>printk(KERN_DEBUG "Hello World!\n"): Prints a debug-level message to the kernel log buffer. printk is the kernel's equivalent of printf; KERN_DEBUG sets the log priority level. return 0 signals successful module loading.</a:t>
            </a:r>
          </a:p>
        </p:txBody>
      </p:sp>
      <p:sp>
        <p:nvSpPr>
          <p:cNvPr id="18" name="TextBox 18"/>
          <p:cNvSpPr txBox="1"/>
          <p:nvPr/>
        </p:nvSpPr>
        <p:spPr>
          <a:xfrm>
            <a:off x="5627689" y="5970937"/>
            <a:ext cx="1422050" cy="816140"/>
          </a:xfrm>
          <a:prstGeom prst="rect">
            <a:avLst/>
          </a:prstGeom>
        </p:spPr>
        <p:txBody>
          <a:bodyPr lIns="0" tIns="0" rIns="0" bIns="0" rtlCol="0" anchor="t">
            <a:spAutoFit/>
          </a:bodyPr>
          <a:lstStyle/>
          <a:p>
            <a:pPr marL="0" lvl="0" indent="0" algn="l">
              <a:lnSpc>
                <a:spcPts val="6465"/>
              </a:lnSpc>
            </a:pPr>
            <a:endParaRPr/>
          </a:p>
        </p:txBody>
      </p:sp>
      <p:grpSp>
        <p:nvGrpSpPr>
          <p:cNvPr id="19" name="Group 19"/>
          <p:cNvGrpSpPr/>
          <p:nvPr/>
        </p:nvGrpSpPr>
        <p:grpSpPr>
          <a:xfrm>
            <a:off x="13613213" y="742557"/>
            <a:ext cx="3646087" cy="610386"/>
            <a:chOff x="0" y="0"/>
            <a:chExt cx="1105686" cy="185101"/>
          </a:xfrm>
        </p:grpSpPr>
        <p:sp>
          <p:nvSpPr>
            <p:cNvPr id="20" name="Freeform 20"/>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1" name="TextBox 21"/>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2" name="TextBox 22"/>
          <p:cNvSpPr txBox="1"/>
          <p:nvPr/>
        </p:nvSpPr>
        <p:spPr>
          <a:xfrm>
            <a:off x="13875609" y="862529"/>
            <a:ext cx="3121295" cy="310576"/>
          </a:xfrm>
          <a:prstGeom prst="rect">
            <a:avLst/>
          </a:prstGeom>
        </p:spPr>
        <p:txBody>
          <a:bodyPr lIns="0" tIns="0" rIns="0" bIns="0" rtlCol="0" anchor="t">
            <a:spAutoFit/>
          </a:bodyPr>
          <a:lstStyle/>
          <a:p>
            <a:pPr marL="0" lvl="0" indent="0" algn="ctr">
              <a:lnSpc>
                <a:spcPts val="2279"/>
              </a:lnSpc>
            </a:pPr>
            <a:r>
              <a:rPr lang="en-US" sz="2279">
                <a:solidFill>
                  <a:srgbClr val="F2F2F4"/>
                </a:solidFill>
                <a:latin typeface="Arial"/>
                <a:ea typeface="Arial"/>
                <a:cs typeface="Arial"/>
                <a:sym typeface="Arial"/>
              </a:rPr>
              <a:t>Line-by-Line Breakdown</a:t>
            </a:r>
          </a:p>
        </p:txBody>
      </p:sp>
      <p:grpSp>
        <p:nvGrpSpPr>
          <p:cNvPr id="23" name="Group 23"/>
          <p:cNvGrpSpPr/>
          <p:nvPr/>
        </p:nvGrpSpPr>
        <p:grpSpPr>
          <a:xfrm rot="7565067">
            <a:off x="-2579135" y="-5484611"/>
            <a:ext cx="7700344" cy="6959565"/>
            <a:chOff x="0" y="0"/>
            <a:chExt cx="2028074" cy="1832972"/>
          </a:xfrm>
        </p:grpSpPr>
        <p:sp>
          <p:nvSpPr>
            <p:cNvPr id="24" name="Freeform 2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25" name="TextBox 2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rot="7565067">
            <a:off x="-2101040" y="-7654979"/>
            <a:ext cx="7700344" cy="9087930"/>
            <a:chOff x="0" y="0"/>
            <a:chExt cx="2028074" cy="2393529"/>
          </a:xfrm>
        </p:grpSpPr>
        <p:sp>
          <p:nvSpPr>
            <p:cNvPr id="27" name="Freeform 27"/>
            <p:cNvSpPr/>
            <p:nvPr/>
          </p:nvSpPr>
          <p:spPr>
            <a:xfrm>
              <a:off x="0" y="0"/>
              <a:ext cx="2028074" cy="2393529"/>
            </a:xfrm>
            <a:custGeom>
              <a:avLst/>
              <a:gdLst/>
              <a:ahLst/>
              <a:cxnLst/>
              <a:rect l="l" t="t" r="r" b="b"/>
              <a:pathLst>
                <a:path w="2028074" h="2393529">
                  <a:moveTo>
                    <a:pt x="0" y="0"/>
                  </a:moveTo>
                  <a:lnTo>
                    <a:pt x="2028074" y="0"/>
                  </a:lnTo>
                  <a:lnTo>
                    <a:pt x="2028074" y="2393529"/>
                  </a:lnTo>
                  <a:lnTo>
                    <a:pt x="0" y="2393529"/>
                  </a:lnTo>
                  <a:close/>
                </a:path>
              </a:pathLst>
            </a:custGeom>
            <a:solidFill>
              <a:srgbClr val="5EA6E7"/>
            </a:solidFill>
          </p:spPr>
        </p:sp>
        <p:sp>
          <p:nvSpPr>
            <p:cNvPr id="28" name="TextBox 28"/>
            <p:cNvSpPr txBox="1"/>
            <p:nvPr/>
          </p:nvSpPr>
          <p:spPr>
            <a:xfrm>
              <a:off x="0" y="-38100"/>
              <a:ext cx="2028074" cy="24316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rot="7565067">
            <a:off x="-560042" y="-1523419"/>
            <a:ext cx="7700344" cy="1972618"/>
            <a:chOff x="0" y="0"/>
            <a:chExt cx="2028074" cy="519537"/>
          </a:xfrm>
        </p:grpSpPr>
        <p:sp>
          <p:nvSpPr>
            <p:cNvPr id="30" name="Freeform 3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31" name="TextBox 3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989803" y="9381503"/>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4237165" y="5222201"/>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3645692" y="10007098"/>
            <a:ext cx="7700344" cy="1972618"/>
            <a:chOff x="0" y="0"/>
            <a:chExt cx="2028074" cy="519537"/>
          </a:xfrm>
        </p:grpSpPr>
        <p:sp>
          <p:nvSpPr>
            <p:cNvPr id="10" name="Freeform 1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11" name="TextBox 1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AutoShape 12"/>
          <p:cNvSpPr/>
          <p:nvPr/>
        </p:nvSpPr>
        <p:spPr>
          <a:xfrm>
            <a:off x="5627689" y="9277350"/>
            <a:ext cx="10329387" cy="0"/>
          </a:xfrm>
          <a:prstGeom prst="line">
            <a:avLst/>
          </a:prstGeom>
          <a:ln w="38100" cap="flat">
            <a:solidFill>
              <a:srgbClr val="34609F"/>
            </a:solidFill>
            <a:prstDash val="solid"/>
            <a:headEnd type="none" w="sm" len="sm"/>
            <a:tailEnd type="none" w="sm" len="sm"/>
          </a:ln>
        </p:spPr>
      </p:sp>
      <p:sp>
        <p:nvSpPr>
          <p:cNvPr id="13" name="TextBox 13"/>
          <p:cNvSpPr txBox="1"/>
          <p:nvPr/>
        </p:nvSpPr>
        <p:spPr>
          <a:xfrm>
            <a:off x="16291173" y="8683536"/>
            <a:ext cx="968127" cy="965963"/>
          </a:xfrm>
          <a:prstGeom prst="rect">
            <a:avLst/>
          </a:prstGeom>
        </p:spPr>
        <p:txBody>
          <a:bodyPr lIns="0" tIns="0" rIns="0" bIns="0" rtlCol="0" anchor="t">
            <a:spAutoFit/>
          </a:bodyPr>
          <a:lstStyle/>
          <a:p>
            <a:pPr marL="0" lvl="0" indent="0" algn="ctr">
              <a:lnSpc>
                <a:spcPts val="7657"/>
              </a:lnSpc>
            </a:pPr>
            <a:r>
              <a:rPr lang="en-US" sz="5469" b="1" spc="38">
                <a:solidFill>
                  <a:srgbClr val="193B6A"/>
                </a:solidFill>
                <a:latin typeface="Liberation Sans Bold"/>
                <a:ea typeface="Liberation Sans Bold"/>
                <a:cs typeface="Liberation Sans Bold"/>
                <a:sym typeface="Liberation Sans Bold"/>
              </a:rPr>
              <a:t>06</a:t>
            </a:r>
          </a:p>
        </p:txBody>
      </p:sp>
      <p:sp>
        <p:nvSpPr>
          <p:cNvPr id="14" name="TextBox 14"/>
          <p:cNvSpPr txBox="1"/>
          <p:nvPr/>
        </p:nvSpPr>
        <p:spPr>
          <a:xfrm>
            <a:off x="5627689" y="2185633"/>
            <a:ext cx="10329387" cy="1466297"/>
          </a:xfrm>
          <a:prstGeom prst="rect">
            <a:avLst/>
          </a:prstGeom>
        </p:spPr>
        <p:txBody>
          <a:bodyPr lIns="0" tIns="0" rIns="0" bIns="0" rtlCol="0" anchor="t">
            <a:spAutoFit/>
          </a:bodyPr>
          <a:lstStyle/>
          <a:p>
            <a:pPr marL="0" lvl="0" indent="0" algn="l">
              <a:lnSpc>
                <a:spcPts val="5805"/>
              </a:lnSpc>
            </a:pPr>
            <a:r>
              <a:rPr lang="en-US" sz="4146" b="1" spc="29">
                <a:solidFill>
                  <a:srgbClr val="193B6A"/>
                </a:solidFill>
                <a:latin typeface="Liberation Sans Bold"/>
                <a:ea typeface="Liberation Sans Bold"/>
                <a:cs typeface="Liberation Sans Bold"/>
                <a:sym typeface="Liberation Sans Bold"/>
              </a:rPr>
              <a:t>HELLO_EXIT FUNCTION &amp; MODULE REGISTRATION</a:t>
            </a:r>
          </a:p>
        </p:txBody>
      </p:sp>
      <p:sp>
        <p:nvSpPr>
          <p:cNvPr id="15" name="TextBox 15"/>
          <p:cNvSpPr txBox="1"/>
          <p:nvPr/>
        </p:nvSpPr>
        <p:spPr>
          <a:xfrm>
            <a:off x="7256069" y="4145657"/>
            <a:ext cx="8701006" cy="1563220"/>
          </a:xfrm>
          <a:prstGeom prst="rect">
            <a:avLst/>
          </a:prstGeom>
        </p:spPr>
        <p:txBody>
          <a:bodyPr lIns="0" tIns="0" rIns="0" bIns="0" rtlCol="0" anchor="t">
            <a:spAutoFit/>
          </a:bodyPr>
          <a:lstStyle/>
          <a:p>
            <a:pPr marL="0" lvl="0" indent="0" algn="l">
              <a:lnSpc>
                <a:spcPts val="3044"/>
              </a:lnSpc>
            </a:pPr>
            <a:r>
              <a:rPr lang="en-US" sz="3044">
                <a:solidFill>
                  <a:srgbClr val="193B6A"/>
                </a:solidFill>
                <a:latin typeface="Arial"/>
                <a:ea typeface="Arial"/>
                <a:cs typeface="Arial"/>
                <a:sym typeface="Arial"/>
              </a:rPr>
              <a:t>static void __exit hello_exit(void): The __exit macro marks this function as cleanup code, called when the module is unloaded. It frees resources and prints "Goodbye World!" to the kernel log.</a:t>
            </a:r>
          </a:p>
        </p:txBody>
      </p:sp>
      <p:sp>
        <p:nvSpPr>
          <p:cNvPr id="16" name="TextBox 16"/>
          <p:cNvSpPr txBox="1"/>
          <p:nvPr/>
        </p:nvSpPr>
        <p:spPr>
          <a:xfrm>
            <a:off x="5627689" y="3811933"/>
            <a:ext cx="1422050" cy="732872"/>
          </a:xfrm>
          <a:prstGeom prst="rect">
            <a:avLst/>
          </a:prstGeom>
        </p:spPr>
        <p:txBody>
          <a:bodyPr lIns="0" tIns="0" rIns="0" bIns="0" rtlCol="0" anchor="t">
            <a:spAutoFit/>
          </a:bodyPr>
          <a:lstStyle/>
          <a:p>
            <a:pPr marL="0" lvl="0" indent="0" algn="l">
              <a:lnSpc>
                <a:spcPts val="5805"/>
              </a:lnSpc>
            </a:pPr>
            <a:endParaRPr/>
          </a:p>
        </p:txBody>
      </p:sp>
      <p:sp>
        <p:nvSpPr>
          <p:cNvPr id="17" name="TextBox 17"/>
          <p:cNvSpPr txBox="1"/>
          <p:nvPr/>
        </p:nvSpPr>
        <p:spPr>
          <a:xfrm>
            <a:off x="7256069" y="6314186"/>
            <a:ext cx="8701006" cy="1944220"/>
          </a:xfrm>
          <a:prstGeom prst="rect">
            <a:avLst/>
          </a:prstGeom>
        </p:spPr>
        <p:txBody>
          <a:bodyPr lIns="0" tIns="0" rIns="0" bIns="0" rtlCol="0" anchor="t">
            <a:spAutoFit/>
          </a:bodyPr>
          <a:lstStyle/>
          <a:p>
            <a:pPr marL="0" lvl="0" indent="0" algn="l">
              <a:lnSpc>
                <a:spcPts val="3044"/>
              </a:lnSpc>
            </a:pPr>
            <a:r>
              <a:rPr lang="en-US" sz="3044">
                <a:solidFill>
                  <a:srgbClr val="193B6A"/>
                </a:solidFill>
                <a:latin typeface="Arial"/>
                <a:ea typeface="Arial"/>
                <a:cs typeface="Arial"/>
                <a:sym typeface="Arial"/>
              </a:rPr>
              <a:t>module_init(hello_init) and module_exit(hello_exit): These macros register the entry and cleanup functions. Proper cleanup is essential to prevent memory leaks and ensure system stability when unloading modules.</a:t>
            </a:r>
          </a:p>
        </p:txBody>
      </p:sp>
      <p:sp>
        <p:nvSpPr>
          <p:cNvPr id="18" name="TextBox 18"/>
          <p:cNvSpPr txBox="1"/>
          <p:nvPr/>
        </p:nvSpPr>
        <p:spPr>
          <a:xfrm>
            <a:off x="5627689" y="5980462"/>
            <a:ext cx="1422050" cy="732872"/>
          </a:xfrm>
          <a:prstGeom prst="rect">
            <a:avLst/>
          </a:prstGeom>
        </p:spPr>
        <p:txBody>
          <a:bodyPr lIns="0" tIns="0" rIns="0" bIns="0" rtlCol="0" anchor="t">
            <a:spAutoFit/>
          </a:bodyPr>
          <a:lstStyle/>
          <a:p>
            <a:pPr marL="0" lvl="0" indent="0" algn="l">
              <a:lnSpc>
                <a:spcPts val="5805"/>
              </a:lnSpc>
            </a:pPr>
            <a:endParaRPr/>
          </a:p>
        </p:txBody>
      </p:sp>
      <p:grpSp>
        <p:nvGrpSpPr>
          <p:cNvPr id="19" name="Group 19"/>
          <p:cNvGrpSpPr/>
          <p:nvPr/>
        </p:nvGrpSpPr>
        <p:grpSpPr>
          <a:xfrm>
            <a:off x="13613213" y="742557"/>
            <a:ext cx="3646087" cy="610386"/>
            <a:chOff x="0" y="0"/>
            <a:chExt cx="1105686" cy="185101"/>
          </a:xfrm>
        </p:grpSpPr>
        <p:sp>
          <p:nvSpPr>
            <p:cNvPr id="20" name="Freeform 20"/>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1" name="TextBox 21"/>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2" name="TextBox 22"/>
          <p:cNvSpPr txBox="1"/>
          <p:nvPr/>
        </p:nvSpPr>
        <p:spPr>
          <a:xfrm>
            <a:off x="13875609" y="862529"/>
            <a:ext cx="3121295" cy="398945"/>
          </a:xfrm>
          <a:prstGeom prst="rect">
            <a:avLst/>
          </a:prstGeom>
        </p:spPr>
        <p:txBody>
          <a:bodyPr lIns="0" tIns="0" rIns="0" bIns="0" rtlCol="0" anchor="t">
            <a:spAutoFit/>
          </a:bodyPr>
          <a:lstStyle/>
          <a:p>
            <a:pPr marL="0" lvl="0" indent="0" algn="ctr">
              <a:lnSpc>
                <a:spcPts val="2826"/>
              </a:lnSpc>
            </a:pPr>
            <a:r>
              <a:rPr lang="en-US" sz="2826">
                <a:solidFill>
                  <a:srgbClr val="F2F2F4"/>
                </a:solidFill>
                <a:latin typeface="Arial"/>
                <a:ea typeface="Arial"/>
                <a:cs typeface="Arial"/>
                <a:sym typeface="Arial"/>
              </a:rPr>
              <a:t>Exit &amp; Registration</a:t>
            </a:r>
          </a:p>
        </p:txBody>
      </p:sp>
      <p:grpSp>
        <p:nvGrpSpPr>
          <p:cNvPr id="23" name="Group 23"/>
          <p:cNvGrpSpPr/>
          <p:nvPr/>
        </p:nvGrpSpPr>
        <p:grpSpPr>
          <a:xfrm rot="7565067">
            <a:off x="-2579135" y="-5484611"/>
            <a:ext cx="7700344" cy="6959565"/>
            <a:chOff x="0" y="0"/>
            <a:chExt cx="2028074" cy="1832972"/>
          </a:xfrm>
        </p:grpSpPr>
        <p:sp>
          <p:nvSpPr>
            <p:cNvPr id="24" name="Freeform 2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25" name="TextBox 2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rot="7565067">
            <a:off x="-2101040" y="-7654979"/>
            <a:ext cx="7700344" cy="9087930"/>
            <a:chOff x="0" y="0"/>
            <a:chExt cx="2028074" cy="2393529"/>
          </a:xfrm>
        </p:grpSpPr>
        <p:sp>
          <p:nvSpPr>
            <p:cNvPr id="27" name="Freeform 27"/>
            <p:cNvSpPr/>
            <p:nvPr/>
          </p:nvSpPr>
          <p:spPr>
            <a:xfrm>
              <a:off x="0" y="0"/>
              <a:ext cx="2028074" cy="2393529"/>
            </a:xfrm>
            <a:custGeom>
              <a:avLst/>
              <a:gdLst/>
              <a:ahLst/>
              <a:cxnLst/>
              <a:rect l="l" t="t" r="r" b="b"/>
              <a:pathLst>
                <a:path w="2028074" h="2393529">
                  <a:moveTo>
                    <a:pt x="0" y="0"/>
                  </a:moveTo>
                  <a:lnTo>
                    <a:pt x="2028074" y="0"/>
                  </a:lnTo>
                  <a:lnTo>
                    <a:pt x="2028074" y="2393529"/>
                  </a:lnTo>
                  <a:lnTo>
                    <a:pt x="0" y="2393529"/>
                  </a:lnTo>
                  <a:close/>
                </a:path>
              </a:pathLst>
            </a:custGeom>
            <a:solidFill>
              <a:srgbClr val="5EA6E7"/>
            </a:solidFill>
          </p:spPr>
        </p:sp>
        <p:sp>
          <p:nvSpPr>
            <p:cNvPr id="28" name="TextBox 28"/>
            <p:cNvSpPr txBox="1"/>
            <p:nvPr/>
          </p:nvSpPr>
          <p:spPr>
            <a:xfrm>
              <a:off x="0" y="-38100"/>
              <a:ext cx="2028074" cy="24316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rot="7565067">
            <a:off x="-560042" y="-1523419"/>
            <a:ext cx="7700344" cy="1972618"/>
            <a:chOff x="0" y="0"/>
            <a:chExt cx="2028074" cy="519537"/>
          </a:xfrm>
        </p:grpSpPr>
        <p:sp>
          <p:nvSpPr>
            <p:cNvPr id="30" name="Freeform 3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31" name="TextBox 3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989803" y="9381503"/>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4237165" y="5222201"/>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3645692" y="10007098"/>
            <a:ext cx="7700344" cy="1972618"/>
            <a:chOff x="0" y="0"/>
            <a:chExt cx="2028074" cy="519537"/>
          </a:xfrm>
        </p:grpSpPr>
        <p:sp>
          <p:nvSpPr>
            <p:cNvPr id="10" name="Freeform 1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11" name="TextBox 1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AutoShape 12"/>
          <p:cNvSpPr/>
          <p:nvPr/>
        </p:nvSpPr>
        <p:spPr>
          <a:xfrm>
            <a:off x="5627689" y="9277350"/>
            <a:ext cx="10329387" cy="0"/>
          </a:xfrm>
          <a:prstGeom prst="line">
            <a:avLst/>
          </a:prstGeom>
          <a:ln w="38100" cap="flat">
            <a:solidFill>
              <a:srgbClr val="34609F"/>
            </a:solidFill>
            <a:prstDash val="solid"/>
            <a:headEnd type="none" w="sm" len="sm"/>
            <a:tailEnd type="none" w="sm" len="sm"/>
          </a:ln>
        </p:spPr>
      </p:sp>
      <p:sp>
        <p:nvSpPr>
          <p:cNvPr id="13" name="TextBox 13"/>
          <p:cNvSpPr txBox="1"/>
          <p:nvPr/>
        </p:nvSpPr>
        <p:spPr>
          <a:xfrm>
            <a:off x="16291173" y="8740686"/>
            <a:ext cx="968127" cy="532444"/>
          </a:xfrm>
          <a:prstGeom prst="rect">
            <a:avLst/>
          </a:prstGeom>
        </p:spPr>
        <p:txBody>
          <a:bodyPr lIns="0" tIns="0" rIns="0" bIns="0" rtlCol="0" anchor="t">
            <a:spAutoFit/>
          </a:bodyPr>
          <a:lstStyle/>
          <a:p>
            <a:pPr marL="0" lvl="0" indent="0" algn="ctr">
              <a:lnSpc>
                <a:spcPts val="4252"/>
              </a:lnSpc>
            </a:pPr>
            <a:r>
              <a:rPr lang="en-US" sz="3037" b="1" spc="21">
                <a:solidFill>
                  <a:srgbClr val="193B6A"/>
                </a:solidFill>
                <a:latin typeface="Liberation Sans Bold"/>
                <a:ea typeface="Liberation Sans Bold"/>
                <a:cs typeface="Liberation Sans Bold"/>
                <a:sym typeface="Liberation Sans Bold"/>
              </a:rPr>
              <a:t>07</a:t>
            </a:r>
          </a:p>
        </p:txBody>
      </p:sp>
      <p:grpSp>
        <p:nvGrpSpPr>
          <p:cNvPr id="14" name="Group 14"/>
          <p:cNvGrpSpPr/>
          <p:nvPr/>
        </p:nvGrpSpPr>
        <p:grpSpPr>
          <a:xfrm>
            <a:off x="11263993" y="4167821"/>
            <a:ext cx="5995307" cy="3740992"/>
            <a:chOff x="0" y="0"/>
            <a:chExt cx="928830" cy="579578"/>
          </a:xfrm>
        </p:grpSpPr>
        <p:sp>
          <p:nvSpPr>
            <p:cNvPr id="15" name="Freeform 15"/>
            <p:cNvSpPr/>
            <p:nvPr/>
          </p:nvSpPr>
          <p:spPr>
            <a:xfrm>
              <a:off x="0" y="0"/>
              <a:ext cx="928830" cy="579578"/>
            </a:xfrm>
            <a:custGeom>
              <a:avLst/>
              <a:gdLst/>
              <a:ahLst/>
              <a:cxnLst/>
              <a:rect l="l" t="t" r="r" b="b"/>
              <a:pathLst>
                <a:path w="928830" h="579578">
                  <a:moveTo>
                    <a:pt x="0" y="0"/>
                  </a:moveTo>
                  <a:lnTo>
                    <a:pt x="928830" y="0"/>
                  </a:lnTo>
                  <a:lnTo>
                    <a:pt x="928830" y="579578"/>
                  </a:lnTo>
                  <a:lnTo>
                    <a:pt x="0" y="579578"/>
                  </a:lnTo>
                  <a:close/>
                </a:path>
              </a:pathLst>
            </a:custGeom>
            <a:blipFill>
              <a:blip r:embed="rId3"/>
              <a:stretch>
                <a:fillRect t="-3987" b="-3987"/>
              </a:stretch>
            </a:blipFill>
          </p:spPr>
        </p:sp>
      </p:grpSp>
      <p:sp>
        <p:nvSpPr>
          <p:cNvPr id="16" name="TextBox 16"/>
          <p:cNvSpPr txBox="1"/>
          <p:nvPr/>
        </p:nvSpPr>
        <p:spPr>
          <a:xfrm>
            <a:off x="5627689" y="2236372"/>
            <a:ext cx="10329387" cy="823269"/>
          </a:xfrm>
          <a:prstGeom prst="rect">
            <a:avLst/>
          </a:prstGeom>
        </p:spPr>
        <p:txBody>
          <a:bodyPr lIns="0" tIns="0" rIns="0" bIns="0" rtlCol="0" anchor="t">
            <a:spAutoFit/>
          </a:bodyPr>
          <a:lstStyle/>
          <a:p>
            <a:pPr marL="0" lvl="0" indent="0" algn="l">
              <a:lnSpc>
                <a:spcPts val="6597"/>
              </a:lnSpc>
            </a:pPr>
            <a:r>
              <a:rPr lang="en-US" sz="4712" b="1" spc="32">
                <a:solidFill>
                  <a:srgbClr val="193B6A"/>
                </a:solidFill>
                <a:latin typeface="Liberation Sans Bold"/>
                <a:ea typeface="Liberation Sans Bold"/>
                <a:cs typeface="Liberation Sans Bold"/>
                <a:sym typeface="Liberation Sans Bold"/>
              </a:rPr>
              <a:t>MAKEFILE PURPOSE &amp; OVERVIEW</a:t>
            </a:r>
          </a:p>
        </p:txBody>
      </p:sp>
      <p:sp>
        <p:nvSpPr>
          <p:cNvPr id="17" name="TextBox 17"/>
          <p:cNvSpPr txBox="1"/>
          <p:nvPr/>
        </p:nvSpPr>
        <p:spPr>
          <a:xfrm>
            <a:off x="5627689" y="4205921"/>
            <a:ext cx="5164693" cy="4261877"/>
          </a:xfrm>
          <a:prstGeom prst="rect">
            <a:avLst/>
          </a:prstGeom>
        </p:spPr>
        <p:txBody>
          <a:bodyPr lIns="0" tIns="0" rIns="0" bIns="0" rtlCol="0" anchor="t">
            <a:spAutoFit/>
          </a:bodyPr>
          <a:lstStyle/>
          <a:p>
            <a:pPr marL="0" lvl="0" indent="0" algn="l">
              <a:lnSpc>
                <a:spcPts val="2790"/>
              </a:lnSpc>
            </a:pPr>
            <a:r>
              <a:rPr lang="en-US" sz="2790">
                <a:solidFill>
                  <a:srgbClr val="193B6A"/>
                </a:solidFill>
                <a:latin typeface="Arial"/>
                <a:ea typeface="Arial"/>
                <a:cs typeface="Arial"/>
                <a:sym typeface="Arial"/>
              </a:rPr>
              <a:t>obj-m += linux_task.o: specifies the kernel module object file to build.</a:t>
            </a:r>
          </a:p>
          <a:p>
            <a:pPr marL="0" lvl="0" indent="0" algn="l">
              <a:lnSpc>
                <a:spcPts val="2790"/>
              </a:lnSpc>
            </a:pPr>
            <a:r>
              <a:rPr lang="en-US" sz="2790">
                <a:solidFill>
                  <a:srgbClr val="193B6A"/>
                </a:solidFill>
                <a:latin typeface="Arial"/>
                <a:ea typeface="Arial"/>
                <a:cs typeface="Arial"/>
                <a:sym typeface="Arial"/>
              </a:rPr>
              <a:t>KDIR variable: path to kernel build directory (defaults to current running kernel source).</a:t>
            </a:r>
          </a:p>
          <a:p>
            <a:pPr marL="0" lvl="0" indent="0" algn="l">
              <a:lnSpc>
                <a:spcPts val="2790"/>
              </a:lnSpc>
            </a:pPr>
            <a:r>
              <a:rPr lang="en-US" sz="2790">
                <a:solidFill>
                  <a:srgbClr val="193B6A"/>
                </a:solidFill>
                <a:latin typeface="Arial"/>
                <a:ea typeface="Arial"/>
                <a:cs typeface="Arial"/>
                <a:sym typeface="Arial"/>
              </a:rPr>
              <a:t>PWD variable: stores current working directory path.</a:t>
            </a:r>
          </a:p>
          <a:p>
            <a:pPr marL="0" lvl="0" indent="0" algn="l">
              <a:lnSpc>
                <a:spcPts val="2790"/>
              </a:lnSpc>
            </a:pPr>
            <a:r>
              <a:rPr lang="en-US" sz="2790">
                <a:solidFill>
                  <a:srgbClr val="193B6A"/>
                </a:solidFill>
                <a:latin typeface="Arial"/>
                <a:ea typeface="Arial"/>
                <a:cs typeface="Arial"/>
                <a:sym typeface="Arial"/>
              </a:rPr>
              <a:t>all target: builds the module against kernel source.</a:t>
            </a:r>
          </a:p>
          <a:p>
            <a:pPr marL="0" lvl="0" indent="0" algn="l">
              <a:lnSpc>
                <a:spcPts val="2790"/>
              </a:lnSpc>
            </a:pPr>
            <a:r>
              <a:rPr lang="en-US" sz="2790">
                <a:solidFill>
                  <a:srgbClr val="193B6A"/>
                </a:solidFill>
                <a:latin typeface="Arial"/>
                <a:ea typeface="Arial"/>
                <a:cs typeface="Arial"/>
                <a:sym typeface="Arial"/>
              </a:rPr>
              <a:t>clean target: removes build artifacts.</a:t>
            </a:r>
          </a:p>
        </p:txBody>
      </p:sp>
      <p:grpSp>
        <p:nvGrpSpPr>
          <p:cNvPr id="18" name="Group 18"/>
          <p:cNvGrpSpPr/>
          <p:nvPr/>
        </p:nvGrpSpPr>
        <p:grpSpPr>
          <a:xfrm>
            <a:off x="13613213" y="742557"/>
            <a:ext cx="3646087" cy="610386"/>
            <a:chOff x="0" y="0"/>
            <a:chExt cx="1105686" cy="185101"/>
          </a:xfrm>
        </p:grpSpPr>
        <p:sp>
          <p:nvSpPr>
            <p:cNvPr id="19" name="Freeform 19"/>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0" name="TextBox 20"/>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13875609" y="853004"/>
            <a:ext cx="3121295" cy="200522"/>
          </a:xfrm>
          <a:prstGeom prst="rect">
            <a:avLst/>
          </a:prstGeom>
        </p:spPr>
        <p:txBody>
          <a:bodyPr lIns="0" tIns="0" rIns="0" bIns="0" rtlCol="0" anchor="t">
            <a:spAutoFit/>
          </a:bodyPr>
          <a:lstStyle/>
          <a:p>
            <a:pPr marL="0" lvl="0" indent="0" algn="ctr">
              <a:lnSpc>
                <a:spcPts val="1479"/>
              </a:lnSpc>
            </a:pPr>
            <a:r>
              <a:rPr lang="en-US" sz="1479">
                <a:solidFill>
                  <a:srgbClr val="F2F2F4"/>
                </a:solidFill>
                <a:latin typeface="Arial"/>
                <a:ea typeface="Arial"/>
                <a:cs typeface="Arial"/>
                <a:sym typeface="Arial"/>
              </a:rPr>
              <a:t>Kernel Development</a:t>
            </a:r>
          </a:p>
        </p:txBody>
      </p:sp>
      <p:grpSp>
        <p:nvGrpSpPr>
          <p:cNvPr id="22" name="Group 22"/>
          <p:cNvGrpSpPr/>
          <p:nvPr/>
        </p:nvGrpSpPr>
        <p:grpSpPr>
          <a:xfrm rot="7565067">
            <a:off x="-2579135" y="-5484611"/>
            <a:ext cx="7700344" cy="6959565"/>
            <a:chOff x="0" y="0"/>
            <a:chExt cx="2028074" cy="1832972"/>
          </a:xfrm>
        </p:grpSpPr>
        <p:sp>
          <p:nvSpPr>
            <p:cNvPr id="23" name="Freeform 23"/>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24" name="TextBox 24"/>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rot="7565067">
            <a:off x="-2101040" y="-7654979"/>
            <a:ext cx="7700344" cy="9087930"/>
            <a:chOff x="0" y="0"/>
            <a:chExt cx="2028074" cy="2393529"/>
          </a:xfrm>
        </p:grpSpPr>
        <p:sp>
          <p:nvSpPr>
            <p:cNvPr id="26" name="Freeform 26"/>
            <p:cNvSpPr/>
            <p:nvPr/>
          </p:nvSpPr>
          <p:spPr>
            <a:xfrm>
              <a:off x="0" y="0"/>
              <a:ext cx="2028074" cy="2393529"/>
            </a:xfrm>
            <a:custGeom>
              <a:avLst/>
              <a:gdLst/>
              <a:ahLst/>
              <a:cxnLst/>
              <a:rect l="l" t="t" r="r" b="b"/>
              <a:pathLst>
                <a:path w="2028074" h="2393529">
                  <a:moveTo>
                    <a:pt x="0" y="0"/>
                  </a:moveTo>
                  <a:lnTo>
                    <a:pt x="2028074" y="0"/>
                  </a:lnTo>
                  <a:lnTo>
                    <a:pt x="2028074" y="2393529"/>
                  </a:lnTo>
                  <a:lnTo>
                    <a:pt x="0" y="2393529"/>
                  </a:lnTo>
                  <a:close/>
                </a:path>
              </a:pathLst>
            </a:custGeom>
            <a:solidFill>
              <a:srgbClr val="5EA6E7"/>
            </a:solidFill>
          </p:spPr>
        </p:sp>
        <p:sp>
          <p:nvSpPr>
            <p:cNvPr id="27" name="TextBox 27"/>
            <p:cNvSpPr txBox="1"/>
            <p:nvPr/>
          </p:nvSpPr>
          <p:spPr>
            <a:xfrm>
              <a:off x="0" y="-38100"/>
              <a:ext cx="2028074" cy="24316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8" name="Group 28"/>
          <p:cNvGrpSpPr/>
          <p:nvPr/>
        </p:nvGrpSpPr>
        <p:grpSpPr>
          <a:xfrm rot="7565067">
            <a:off x="-560042" y="-1523419"/>
            <a:ext cx="7700344" cy="1972618"/>
            <a:chOff x="0" y="0"/>
            <a:chExt cx="2028074" cy="519537"/>
          </a:xfrm>
        </p:grpSpPr>
        <p:sp>
          <p:nvSpPr>
            <p:cNvPr id="29" name="Freeform 29"/>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30" name="TextBox 30"/>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989803" y="9381503"/>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4237165" y="5222201"/>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3645692" y="10007098"/>
            <a:ext cx="7700344" cy="1972618"/>
            <a:chOff x="0" y="0"/>
            <a:chExt cx="2028074" cy="519537"/>
          </a:xfrm>
        </p:grpSpPr>
        <p:sp>
          <p:nvSpPr>
            <p:cNvPr id="10" name="Freeform 1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11" name="TextBox 1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AutoShape 12"/>
          <p:cNvSpPr/>
          <p:nvPr/>
        </p:nvSpPr>
        <p:spPr>
          <a:xfrm>
            <a:off x="5627689" y="9277350"/>
            <a:ext cx="10329387" cy="0"/>
          </a:xfrm>
          <a:prstGeom prst="line">
            <a:avLst/>
          </a:prstGeom>
          <a:ln w="38100" cap="flat">
            <a:solidFill>
              <a:srgbClr val="34609F"/>
            </a:solidFill>
            <a:prstDash val="solid"/>
            <a:headEnd type="none" w="sm" len="sm"/>
            <a:tailEnd type="none" w="sm" len="sm"/>
          </a:ln>
        </p:spPr>
      </p:sp>
      <p:sp>
        <p:nvSpPr>
          <p:cNvPr id="13" name="TextBox 13"/>
          <p:cNvSpPr txBox="1"/>
          <p:nvPr/>
        </p:nvSpPr>
        <p:spPr>
          <a:xfrm>
            <a:off x="16291173" y="8750211"/>
            <a:ext cx="968127" cy="465511"/>
          </a:xfrm>
          <a:prstGeom prst="rect">
            <a:avLst/>
          </a:prstGeom>
        </p:spPr>
        <p:txBody>
          <a:bodyPr lIns="0" tIns="0" rIns="0" bIns="0" rtlCol="0" anchor="t">
            <a:spAutoFit/>
          </a:bodyPr>
          <a:lstStyle/>
          <a:p>
            <a:pPr marL="0" lvl="0" indent="0" algn="ctr">
              <a:lnSpc>
                <a:spcPts val="3741"/>
              </a:lnSpc>
            </a:pPr>
            <a:r>
              <a:rPr lang="en-US" sz="2672" b="1" spc="18">
                <a:solidFill>
                  <a:srgbClr val="193B6A"/>
                </a:solidFill>
                <a:latin typeface="Liberation Sans Bold"/>
                <a:ea typeface="Liberation Sans Bold"/>
                <a:cs typeface="Liberation Sans Bold"/>
                <a:sym typeface="Liberation Sans Bold"/>
              </a:rPr>
              <a:t>08</a:t>
            </a:r>
          </a:p>
        </p:txBody>
      </p:sp>
      <p:sp>
        <p:nvSpPr>
          <p:cNvPr id="14" name="TextBox 14"/>
          <p:cNvSpPr txBox="1"/>
          <p:nvPr/>
        </p:nvSpPr>
        <p:spPr>
          <a:xfrm>
            <a:off x="5627689" y="2041097"/>
            <a:ext cx="10329387" cy="1466297"/>
          </a:xfrm>
          <a:prstGeom prst="rect">
            <a:avLst/>
          </a:prstGeom>
        </p:spPr>
        <p:txBody>
          <a:bodyPr lIns="0" tIns="0" rIns="0" bIns="0" rtlCol="0" anchor="t">
            <a:spAutoFit/>
          </a:bodyPr>
          <a:lstStyle/>
          <a:p>
            <a:pPr marL="0" lvl="0" indent="0" algn="l">
              <a:lnSpc>
                <a:spcPts val="5805"/>
              </a:lnSpc>
            </a:pPr>
            <a:r>
              <a:rPr lang="en-US" sz="4146" b="1" spc="29">
                <a:solidFill>
                  <a:srgbClr val="193B6A"/>
                </a:solidFill>
                <a:latin typeface="Liberation Sans Bold"/>
                <a:ea typeface="Liberation Sans Bold"/>
                <a:cs typeface="Liberation Sans Bold"/>
                <a:sym typeface="Liberation Sans Bold"/>
              </a:rPr>
              <a:t>MAKEFILE DETAILED LINE-BY-LINE EXPLANATION</a:t>
            </a:r>
          </a:p>
        </p:txBody>
      </p:sp>
      <p:sp>
        <p:nvSpPr>
          <p:cNvPr id="15" name="TextBox 15"/>
          <p:cNvSpPr txBox="1"/>
          <p:nvPr/>
        </p:nvSpPr>
        <p:spPr>
          <a:xfrm>
            <a:off x="5627689" y="4010646"/>
            <a:ext cx="5164693" cy="4007165"/>
          </a:xfrm>
          <a:prstGeom prst="rect">
            <a:avLst/>
          </a:prstGeom>
        </p:spPr>
        <p:txBody>
          <a:bodyPr lIns="0" tIns="0" rIns="0" bIns="0" rtlCol="0" anchor="t">
            <a:spAutoFit/>
          </a:bodyPr>
          <a:lstStyle/>
          <a:p>
            <a:pPr marL="0" lvl="0" indent="0" algn="l">
              <a:lnSpc>
                <a:spcPts val="2887"/>
              </a:lnSpc>
            </a:pPr>
            <a:r>
              <a:rPr lang="en-US" sz="2887">
                <a:solidFill>
                  <a:srgbClr val="193B6A"/>
                </a:solidFill>
                <a:latin typeface="Arial"/>
                <a:ea typeface="Arial"/>
                <a:cs typeface="Arial"/>
                <a:sym typeface="Arial"/>
              </a:rPr>
              <a:t>all target:</a:t>
            </a:r>
          </a:p>
          <a:p>
            <a:pPr marL="0" lvl="0" indent="0" algn="l">
              <a:lnSpc>
                <a:spcPts val="2887"/>
              </a:lnSpc>
            </a:pPr>
            <a:r>
              <a:rPr lang="en-US" sz="2887">
                <a:solidFill>
                  <a:srgbClr val="193B6A"/>
                </a:solidFill>
                <a:latin typeface="Arial"/>
                <a:ea typeface="Arial"/>
                <a:cs typeface="Arial"/>
                <a:sym typeface="Arial"/>
              </a:rPr>
              <a:t>• Checks if KDIR directory exists using shell if statement</a:t>
            </a:r>
          </a:p>
          <a:p>
            <a:pPr marL="0" lvl="0" indent="0" algn="l">
              <a:lnSpc>
                <a:spcPts val="2887"/>
              </a:lnSpc>
            </a:pPr>
            <a:r>
              <a:rPr lang="en-US" sz="2887">
                <a:solidFill>
                  <a:srgbClr val="193B6A"/>
                </a:solidFill>
                <a:latin typeface="Arial"/>
                <a:ea typeface="Arial"/>
                <a:cs typeface="Arial"/>
                <a:sym typeface="Arial"/>
              </a:rPr>
              <a:t>• Prints error message via echo and exits with exit 1 if missing</a:t>
            </a:r>
          </a:p>
          <a:p>
            <a:pPr marL="0" lvl="0" indent="0" algn="l">
              <a:lnSpc>
                <a:spcPts val="2887"/>
              </a:lnSpc>
            </a:pPr>
            <a:r>
              <a:rPr lang="en-US" sz="2887">
                <a:solidFill>
                  <a:srgbClr val="193B6A"/>
                </a:solidFill>
                <a:latin typeface="Arial"/>
                <a:ea typeface="Arial"/>
                <a:cs typeface="Arial"/>
                <a:sym typeface="Arial"/>
              </a:rPr>
              <a:t>• Runs make -C $(KDIR) M=$(PWD) modules to build in kernel directory</a:t>
            </a:r>
          </a:p>
          <a:p>
            <a:pPr marL="0" lvl="0" indent="0" algn="l">
              <a:lnSpc>
                <a:spcPts val="2887"/>
              </a:lnSpc>
            </a:pPr>
            <a:r>
              <a:rPr lang="en-US" sz="2887">
                <a:solidFill>
                  <a:srgbClr val="193B6A"/>
                </a:solidFill>
                <a:latin typeface="Arial"/>
                <a:ea typeface="Arial"/>
                <a:cs typeface="Arial"/>
                <a:sym typeface="Arial"/>
              </a:rPr>
              <a:t>• M=$(PWD) tells kernel build system where module source resides</a:t>
            </a:r>
          </a:p>
        </p:txBody>
      </p:sp>
      <p:sp>
        <p:nvSpPr>
          <p:cNvPr id="16" name="TextBox 16"/>
          <p:cNvSpPr txBox="1"/>
          <p:nvPr/>
        </p:nvSpPr>
        <p:spPr>
          <a:xfrm>
            <a:off x="10792382" y="4001121"/>
            <a:ext cx="5164693" cy="4030660"/>
          </a:xfrm>
          <a:prstGeom prst="rect">
            <a:avLst/>
          </a:prstGeom>
        </p:spPr>
        <p:txBody>
          <a:bodyPr lIns="0" tIns="0" rIns="0" bIns="0" rtlCol="0" anchor="t">
            <a:spAutoFit/>
          </a:bodyPr>
          <a:lstStyle/>
          <a:p>
            <a:pPr marL="0" lvl="0" indent="0" algn="l">
              <a:lnSpc>
                <a:spcPts val="2687"/>
              </a:lnSpc>
            </a:pPr>
            <a:r>
              <a:rPr lang="en-US" sz="2687">
                <a:solidFill>
                  <a:srgbClr val="193B6A"/>
                </a:solidFill>
                <a:latin typeface="Arial"/>
                <a:ea typeface="Arial"/>
                <a:cs typeface="Arial"/>
                <a:sym typeface="Arial"/>
              </a:rPr>
              <a:t>clean target:</a:t>
            </a:r>
          </a:p>
          <a:p>
            <a:pPr marL="0" lvl="0" indent="0" algn="l">
              <a:lnSpc>
                <a:spcPts val="2687"/>
              </a:lnSpc>
            </a:pPr>
            <a:r>
              <a:rPr lang="en-US" sz="2687">
                <a:solidFill>
                  <a:srgbClr val="193B6A"/>
                </a:solidFill>
                <a:latin typeface="Arial"/>
                <a:ea typeface="Arial"/>
                <a:cs typeface="Arial"/>
                <a:sym typeface="Arial"/>
              </a:rPr>
              <a:t>• Conditionally cleans based on KDIR presence</a:t>
            </a:r>
          </a:p>
          <a:p>
            <a:pPr marL="0" lvl="0" indent="0" algn="l">
              <a:lnSpc>
                <a:spcPts val="2687"/>
              </a:lnSpc>
            </a:pPr>
            <a:r>
              <a:rPr lang="en-US" sz="2687">
                <a:solidFill>
                  <a:srgbClr val="193B6A"/>
                </a:solidFill>
                <a:latin typeface="Arial"/>
                <a:ea typeface="Arial"/>
                <a:cs typeface="Arial"/>
                <a:sym typeface="Arial"/>
              </a:rPr>
              <a:t>• If KDIR exists: runs kernel clean target</a:t>
            </a:r>
          </a:p>
          <a:p>
            <a:pPr marL="0" lvl="0" indent="0" algn="l">
              <a:lnSpc>
                <a:spcPts val="2687"/>
              </a:lnSpc>
            </a:pPr>
            <a:r>
              <a:rPr lang="en-US" sz="2687">
                <a:solidFill>
                  <a:srgbClr val="193B6A"/>
                </a:solidFill>
                <a:latin typeface="Arial"/>
                <a:ea typeface="Arial"/>
                <a:cs typeface="Arial"/>
                <a:sym typeface="Arial"/>
              </a:rPr>
              <a:t>• If not: manually removes *.o, *.ko, *.mod files</a:t>
            </a:r>
          </a:p>
          <a:p>
            <a:pPr marL="0" lvl="0" indent="0" algn="l">
              <a:lnSpc>
                <a:spcPts val="2687"/>
              </a:lnSpc>
            </a:pPr>
            <a:r>
              <a:rPr lang="en-US" sz="2687">
                <a:solidFill>
                  <a:srgbClr val="193B6A"/>
                </a:solidFill>
                <a:latin typeface="Arial"/>
                <a:ea typeface="Arial"/>
                <a:cs typeface="Arial"/>
                <a:sym typeface="Arial"/>
              </a:rPr>
              <a:t>• Removes temporary build folders (.tmp_versions, .cache.mk)</a:t>
            </a:r>
          </a:p>
          <a:p>
            <a:pPr marL="0" lvl="0" indent="0" algn="l">
              <a:lnSpc>
                <a:spcPts val="2687"/>
              </a:lnSpc>
            </a:pPr>
            <a:r>
              <a:rPr lang="en-US" sz="2687">
                <a:solidFill>
                  <a:srgbClr val="193B6A"/>
                </a:solidFill>
                <a:latin typeface="Arial"/>
                <a:ea typeface="Arial"/>
                <a:cs typeface="Arial"/>
                <a:sym typeface="Arial"/>
              </a:rPr>
              <a:t>• Ensures clean state for fresh rebuilds</a:t>
            </a:r>
          </a:p>
        </p:txBody>
      </p:sp>
      <p:grpSp>
        <p:nvGrpSpPr>
          <p:cNvPr id="17" name="Group 17"/>
          <p:cNvGrpSpPr/>
          <p:nvPr/>
        </p:nvGrpSpPr>
        <p:grpSpPr>
          <a:xfrm>
            <a:off x="13613213" y="742557"/>
            <a:ext cx="3646087" cy="610386"/>
            <a:chOff x="0" y="0"/>
            <a:chExt cx="1105686" cy="185101"/>
          </a:xfrm>
        </p:grpSpPr>
        <p:sp>
          <p:nvSpPr>
            <p:cNvPr id="18" name="Freeform 18"/>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19" name="TextBox 19"/>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0" name="TextBox 20"/>
          <p:cNvSpPr txBox="1"/>
          <p:nvPr/>
        </p:nvSpPr>
        <p:spPr>
          <a:xfrm>
            <a:off x="13875609" y="833954"/>
            <a:ext cx="3121295" cy="190241"/>
          </a:xfrm>
          <a:prstGeom prst="rect">
            <a:avLst/>
          </a:prstGeom>
        </p:spPr>
        <p:txBody>
          <a:bodyPr lIns="0" tIns="0" rIns="0" bIns="0" rtlCol="0" anchor="t">
            <a:spAutoFit/>
          </a:bodyPr>
          <a:lstStyle/>
          <a:p>
            <a:pPr marL="0" lvl="0" indent="0" algn="ctr">
              <a:lnSpc>
                <a:spcPts val="1301"/>
              </a:lnSpc>
            </a:pPr>
            <a:r>
              <a:rPr lang="en-US" sz="1301">
                <a:solidFill>
                  <a:srgbClr val="F2F2F4"/>
                </a:solidFill>
                <a:latin typeface="Arial"/>
                <a:ea typeface="Arial"/>
                <a:cs typeface="Arial"/>
                <a:sym typeface="Arial"/>
              </a:rPr>
              <a:t>8th May, 2030</a:t>
            </a:r>
          </a:p>
        </p:txBody>
      </p:sp>
      <p:grpSp>
        <p:nvGrpSpPr>
          <p:cNvPr id="21" name="Group 21"/>
          <p:cNvGrpSpPr/>
          <p:nvPr/>
        </p:nvGrpSpPr>
        <p:grpSpPr>
          <a:xfrm rot="7565067">
            <a:off x="-2579135" y="-5484611"/>
            <a:ext cx="7700344" cy="6959565"/>
            <a:chOff x="0" y="0"/>
            <a:chExt cx="2028074" cy="1832972"/>
          </a:xfrm>
        </p:grpSpPr>
        <p:sp>
          <p:nvSpPr>
            <p:cNvPr id="22" name="Freeform 22"/>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23" name="TextBox 23"/>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4" name="Group 24"/>
          <p:cNvGrpSpPr/>
          <p:nvPr/>
        </p:nvGrpSpPr>
        <p:grpSpPr>
          <a:xfrm rot="7565067">
            <a:off x="-2101040" y="-7654979"/>
            <a:ext cx="7700344" cy="9087930"/>
            <a:chOff x="0" y="0"/>
            <a:chExt cx="2028074" cy="2393529"/>
          </a:xfrm>
        </p:grpSpPr>
        <p:sp>
          <p:nvSpPr>
            <p:cNvPr id="25" name="Freeform 25"/>
            <p:cNvSpPr/>
            <p:nvPr/>
          </p:nvSpPr>
          <p:spPr>
            <a:xfrm>
              <a:off x="0" y="0"/>
              <a:ext cx="2028074" cy="2393529"/>
            </a:xfrm>
            <a:custGeom>
              <a:avLst/>
              <a:gdLst/>
              <a:ahLst/>
              <a:cxnLst/>
              <a:rect l="l" t="t" r="r" b="b"/>
              <a:pathLst>
                <a:path w="2028074" h="2393529">
                  <a:moveTo>
                    <a:pt x="0" y="0"/>
                  </a:moveTo>
                  <a:lnTo>
                    <a:pt x="2028074" y="0"/>
                  </a:lnTo>
                  <a:lnTo>
                    <a:pt x="2028074" y="2393529"/>
                  </a:lnTo>
                  <a:lnTo>
                    <a:pt x="0" y="2393529"/>
                  </a:lnTo>
                  <a:close/>
                </a:path>
              </a:pathLst>
            </a:custGeom>
            <a:solidFill>
              <a:srgbClr val="5EA6E7"/>
            </a:solidFill>
          </p:spPr>
        </p:sp>
        <p:sp>
          <p:nvSpPr>
            <p:cNvPr id="26" name="TextBox 26"/>
            <p:cNvSpPr txBox="1"/>
            <p:nvPr/>
          </p:nvSpPr>
          <p:spPr>
            <a:xfrm>
              <a:off x="0" y="-38100"/>
              <a:ext cx="2028074" cy="24316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7" name="Group 27"/>
          <p:cNvGrpSpPr/>
          <p:nvPr/>
        </p:nvGrpSpPr>
        <p:grpSpPr>
          <a:xfrm rot="7565067">
            <a:off x="-560042" y="-1523419"/>
            <a:ext cx="7700344" cy="1972618"/>
            <a:chOff x="0" y="0"/>
            <a:chExt cx="2028074" cy="519537"/>
          </a:xfrm>
        </p:grpSpPr>
        <p:sp>
          <p:nvSpPr>
            <p:cNvPr id="28" name="Freeform 28"/>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29" name="TextBox 29"/>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989803" y="9381503"/>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4237165" y="5222201"/>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3645692" y="10007098"/>
            <a:ext cx="7700344" cy="1972618"/>
            <a:chOff x="0" y="0"/>
            <a:chExt cx="2028074" cy="519537"/>
          </a:xfrm>
        </p:grpSpPr>
        <p:sp>
          <p:nvSpPr>
            <p:cNvPr id="10" name="Freeform 10"/>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11" name="TextBox 11"/>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AutoShape 12"/>
          <p:cNvSpPr/>
          <p:nvPr/>
        </p:nvSpPr>
        <p:spPr>
          <a:xfrm>
            <a:off x="5627689" y="9277350"/>
            <a:ext cx="10329387" cy="0"/>
          </a:xfrm>
          <a:prstGeom prst="line">
            <a:avLst/>
          </a:prstGeom>
          <a:ln w="38100" cap="flat">
            <a:solidFill>
              <a:srgbClr val="34609F"/>
            </a:solidFill>
            <a:prstDash val="solid"/>
            <a:headEnd type="none" w="sm" len="sm"/>
            <a:tailEnd type="none" w="sm" len="sm"/>
          </a:ln>
        </p:spPr>
      </p:sp>
      <p:sp>
        <p:nvSpPr>
          <p:cNvPr id="13" name="TextBox 13"/>
          <p:cNvSpPr txBox="1"/>
          <p:nvPr/>
        </p:nvSpPr>
        <p:spPr>
          <a:xfrm>
            <a:off x="16291173" y="8674011"/>
            <a:ext cx="968127" cy="1024144"/>
          </a:xfrm>
          <a:prstGeom prst="rect">
            <a:avLst/>
          </a:prstGeom>
        </p:spPr>
        <p:txBody>
          <a:bodyPr lIns="0" tIns="0" rIns="0" bIns="0" rtlCol="0" anchor="t">
            <a:spAutoFit/>
          </a:bodyPr>
          <a:lstStyle/>
          <a:p>
            <a:pPr marL="0" lvl="0" indent="0" algn="ctr">
              <a:lnSpc>
                <a:spcPts val="8126"/>
              </a:lnSpc>
            </a:pPr>
            <a:r>
              <a:rPr lang="en-US" sz="5804" b="1" spc="40">
                <a:solidFill>
                  <a:srgbClr val="193B6A"/>
                </a:solidFill>
                <a:latin typeface="Liberation Sans Bold"/>
                <a:ea typeface="Liberation Sans Bold"/>
                <a:cs typeface="Liberation Sans Bold"/>
                <a:sym typeface="Liberation Sans Bold"/>
              </a:rPr>
              <a:t>09</a:t>
            </a:r>
          </a:p>
        </p:txBody>
      </p:sp>
      <p:grpSp>
        <p:nvGrpSpPr>
          <p:cNvPr id="14" name="Group 14"/>
          <p:cNvGrpSpPr/>
          <p:nvPr/>
        </p:nvGrpSpPr>
        <p:grpSpPr>
          <a:xfrm>
            <a:off x="13613213" y="742557"/>
            <a:ext cx="3646087" cy="610386"/>
            <a:chOff x="0" y="0"/>
            <a:chExt cx="1105686" cy="185101"/>
          </a:xfrm>
        </p:grpSpPr>
        <p:sp>
          <p:nvSpPr>
            <p:cNvPr id="15" name="Freeform 15"/>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16" name="TextBox 16"/>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17" name="TextBox 17"/>
          <p:cNvSpPr txBox="1"/>
          <p:nvPr/>
        </p:nvSpPr>
        <p:spPr>
          <a:xfrm>
            <a:off x="13875609" y="862529"/>
            <a:ext cx="3121295" cy="398945"/>
          </a:xfrm>
          <a:prstGeom prst="rect">
            <a:avLst/>
          </a:prstGeom>
        </p:spPr>
        <p:txBody>
          <a:bodyPr lIns="0" tIns="0" rIns="0" bIns="0" rtlCol="0" anchor="t">
            <a:spAutoFit/>
          </a:bodyPr>
          <a:lstStyle/>
          <a:p>
            <a:pPr marL="0" lvl="0" indent="0" algn="ctr">
              <a:lnSpc>
                <a:spcPts val="2826"/>
              </a:lnSpc>
            </a:pPr>
            <a:r>
              <a:rPr lang="en-US" sz="2826">
                <a:solidFill>
                  <a:srgbClr val="F2F2F4"/>
                </a:solidFill>
                <a:latin typeface="Arial"/>
                <a:ea typeface="Arial"/>
                <a:cs typeface="Arial"/>
                <a:sym typeface="Arial"/>
              </a:rPr>
              <a:t>Summary</a:t>
            </a:r>
          </a:p>
        </p:txBody>
      </p:sp>
      <p:sp>
        <p:nvSpPr>
          <p:cNvPr id="18" name="TextBox 18"/>
          <p:cNvSpPr txBox="1"/>
          <p:nvPr/>
        </p:nvSpPr>
        <p:spPr>
          <a:xfrm>
            <a:off x="5627689" y="1671432"/>
            <a:ext cx="10329387" cy="1581013"/>
          </a:xfrm>
          <a:prstGeom prst="rect">
            <a:avLst/>
          </a:prstGeom>
        </p:spPr>
        <p:txBody>
          <a:bodyPr lIns="0" tIns="0" rIns="0" bIns="0" rtlCol="0" anchor="t">
            <a:spAutoFit/>
          </a:bodyPr>
          <a:lstStyle/>
          <a:p>
            <a:pPr marL="0" lvl="0" indent="0" algn="l">
              <a:lnSpc>
                <a:spcPts val="12607"/>
              </a:lnSpc>
            </a:pPr>
            <a:r>
              <a:rPr lang="en-US" sz="9005" b="1" spc="63">
                <a:solidFill>
                  <a:srgbClr val="193B6A"/>
                </a:solidFill>
                <a:latin typeface="Liberation Sans Bold"/>
                <a:ea typeface="Liberation Sans Bold"/>
                <a:cs typeface="Liberation Sans Bold"/>
                <a:sym typeface="Liberation Sans Bold"/>
              </a:rPr>
              <a:t>KEY TAKEAWAYS</a:t>
            </a:r>
          </a:p>
        </p:txBody>
      </p:sp>
      <p:sp>
        <p:nvSpPr>
          <p:cNvPr id="19" name="TextBox 19"/>
          <p:cNvSpPr txBox="1"/>
          <p:nvPr/>
        </p:nvSpPr>
        <p:spPr>
          <a:xfrm>
            <a:off x="5627689" y="3736231"/>
            <a:ext cx="10329387" cy="2091822"/>
          </a:xfrm>
          <a:prstGeom prst="rect">
            <a:avLst/>
          </a:prstGeom>
        </p:spPr>
        <p:txBody>
          <a:bodyPr lIns="0" tIns="0" rIns="0" bIns="0" rtlCol="0" anchor="t">
            <a:spAutoFit/>
          </a:bodyPr>
          <a:lstStyle/>
          <a:p>
            <a:pPr marL="0" lvl="0" indent="0" algn="l">
              <a:lnSpc>
                <a:spcPts val="3230"/>
              </a:lnSpc>
            </a:pPr>
            <a:r>
              <a:rPr lang="en-US" sz="3230">
                <a:solidFill>
                  <a:srgbClr val="193B6A"/>
                </a:solidFill>
                <a:latin typeface="Arial"/>
                <a:ea typeface="Arial"/>
                <a:cs typeface="Arial"/>
                <a:sym typeface="Arial"/>
              </a:rPr>
              <a:t>Kernel modules allow dynamic extension of kernel functionality without rebooting the system. The Eudyptula Challenge first task introduces newcomers to the Linux kernel development workflow and module building process.</a:t>
            </a:r>
          </a:p>
        </p:txBody>
      </p:sp>
      <p:sp>
        <p:nvSpPr>
          <p:cNvPr id="20" name="TextBox 20"/>
          <p:cNvSpPr txBox="1"/>
          <p:nvPr/>
        </p:nvSpPr>
        <p:spPr>
          <a:xfrm>
            <a:off x="5627689" y="6314012"/>
            <a:ext cx="10329387" cy="2091822"/>
          </a:xfrm>
          <a:prstGeom prst="rect">
            <a:avLst/>
          </a:prstGeom>
        </p:spPr>
        <p:txBody>
          <a:bodyPr lIns="0" tIns="0" rIns="0" bIns="0" rtlCol="0" anchor="t">
            <a:spAutoFit/>
          </a:bodyPr>
          <a:lstStyle/>
          <a:p>
            <a:pPr marL="0" lvl="0" indent="0" algn="l">
              <a:lnSpc>
                <a:spcPts val="3230"/>
              </a:lnSpc>
            </a:pPr>
            <a:r>
              <a:rPr lang="en-US" sz="3230">
                <a:solidFill>
                  <a:srgbClr val="193B6A"/>
                </a:solidFill>
                <a:latin typeface="Arial"/>
                <a:ea typeface="Arial"/>
                <a:cs typeface="Arial"/>
                <a:sym typeface="Arial"/>
              </a:rPr>
              <a:t>The hello.c module prints debug messages on load and unload via printk. The Makefile compiles the module correctly against the kernel source tree. Practice loading and unloading modules using insmod and rmmod commands.</a:t>
            </a:r>
          </a:p>
        </p:txBody>
      </p:sp>
      <p:grpSp>
        <p:nvGrpSpPr>
          <p:cNvPr id="21" name="Group 21"/>
          <p:cNvGrpSpPr/>
          <p:nvPr/>
        </p:nvGrpSpPr>
        <p:grpSpPr>
          <a:xfrm rot="7565067">
            <a:off x="-2579135" y="-5484611"/>
            <a:ext cx="7700344" cy="6959565"/>
            <a:chOff x="0" y="0"/>
            <a:chExt cx="2028074" cy="1832972"/>
          </a:xfrm>
        </p:grpSpPr>
        <p:sp>
          <p:nvSpPr>
            <p:cNvPr id="22" name="Freeform 22"/>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23" name="TextBox 23"/>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4" name="Group 24"/>
          <p:cNvGrpSpPr/>
          <p:nvPr/>
        </p:nvGrpSpPr>
        <p:grpSpPr>
          <a:xfrm rot="7565067">
            <a:off x="-2101040" y="-7654979"/>
            <a:ext cx="7700344" cy="9087930"/>
            <a:chOff x="0" y="0"/>
            <a:chExt cx="2028074" cy="2393529"/>
          </a:xfrm>
        </p:grpSpPr>
        <p:sp>
          <p:nvSpPr>
            <p:cNvPr id="25" name="Freeform 25"/>
            <p:cNvSpPr/>
            <p:nvPr/>
          </p:nvSpPr>
          <p:spPr>
            <a:xfrm>
              <a:off x="0" y="0"/>
              <a:ext cx="2028074" cy="2393529"/>
            </a:xfrm>
            <a:custGeom>
              <a:avLst/>
              <a:gdLst/>
              <a:ahLst/>
              <a:cxnLst/>
              <a:rect l="l" t="t" r="r" b="b"/>
              <a:pathLst>
                <a:path w="2028074" h="2393529">
                  <a:moveTo>
                    <a:pt x="0" y="0"/>
                  </a:moveTo>
                  <a:lnTo>
                    <a:pt x="2028074" y="0"/>
                  </a:lnTo>
                  <a:lnTo>
                    <a:pt x="2028074" y="2393529"/>
                  </a:lnTo>
                  <a:lnTo>
                    <a:pt x="0" y="2393529"/>
                  </a:lnTo>
                  <a:close/>
                </a:path>
              </a:pathLst>
            </a:custGeom>
            <a:solidFill>
              <a:srgbClr val="5EA6E7"/>
            </a:solidFill>
          </p:spPr>
        </p:sp>
        <p:sp>
          <p:nvSpPr>
            <p:cNvPr id="26" name="TextBox 26"/>
            <p:cNvSpPr txBox="1"/>
            <p:nvPr/>
          </p:nvSpPr>
          <p:spPr>
            <a:xfrm>
              <a:off x="0" y="-38100"/>
              <a:ext cx="2028074" cy="24316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7" name="Group 27"/>
          <p:cNvGrpSpPr/>
          <p:nvPr/>
        </p:nvGrpSpPr>
        <p:grpSpPr>
          <a:xfrm rot="7565067">
            <a:off x="-560042" y="-1523419"/>
            <a:ext cx="7700344" cy="1972618"/>
            <a:chOff x="0" y="0"/>
            <a:chExt cx="2028074" cy="519537"/>
          </a:xfrm>
        </p:grpSpPr>
        <p:sp>
          <p:nvSpPr>
            <p:cNvPr id="28" name="Freeform 28"/>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29" name="TextBox 29"/>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rot="-2489216">
            <a:off x="15656490" y="-1258366"/>
            <a:ext cx="7700344" cy="6959565"/>
            <a:chOff x="0" y="0"/>
            <a:chExt cx="2028074" cy="1832972"/>
          </a:xfrm>
        </p:grpSpPr>
        <p:sp>
          <p:nvSpPr>
            <p:cNvPr id="4" name="Freeform 4"/>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5" name="TextBox 5"/>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2489216">
            <a:off x="13975216" y="-8418134"/>
            <a:ext cx="7700344" cy="13744574"/>
            <a:chOff x="0" y="0"/>
            <a:chExt cx="2028074" cy="3619970"/>
          </a:xfrm>
        </p:grpSpPr>
        <p:sp>
          <p:nvSpPr>
            <p:cNvPr id="7" name="Freeform 7"/>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8" name="TextBox 8"/>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2489216">
            <a:off x="-1989803" y="9381503"/>
            <a:ext cx="7700344" cy="6959565"/>
            <a:chOff x="0" y="0"/>
            <a:chExt cx="2028074" cy="1832972"/>
          </a:xfrm>
        </p:grpSpPr>
        <p:sp>
          <p:nvSpPr>
            <p:cNvPr id="10" name="Freeform 10"/>
            <p:cNvSpPr/>
            <p:nvPr/>
          </p:nvSpPr>
          <p:spPr>
            <a:xfrm>
              <a:off x="0" y="0"/>
              <a:ext cx="2028074" cy="1832972"/>
            </a:xfrm>
            <a:custGeom>
              <a:avLst/>
              <a:gdLst/>
              <a:ahLst/>
              <a:cxnLst/>
              <a:rect l="l" t="t" r="r" b="b"/>
              <a:pathLst>
                <a:path w="2028074" h="1832972">
                  <a:moveTo>
                    <a:pt x="0" y="0"/>
                  </a:moveTo>
                  <a:lnTo>
                    <a:pt x="2028074" y="0"/>
                  </a:lnTo>
                  <a:lnTo>
                    <a:pt x="2028074" y="1832972"/>
                  </a:lnTo>
                  <a:lnTo>
                    <a:pt x="0" y="1832972"/>
                  </a:lnTo>
                  <a:close/>
                </a:path>
              </a:pathLst>
            </a:custGeom>
            <a:solidFill>
              <a:srgbClr val="34609F"/>
            </a:solidFill>
          </p:spPr>
        </p:sp>
        <p:sp>
          <p:nvSpPr>
            <p:cNvPr id="11" name="TextBox 11"/>
            <p:cNvSpPr txBox="1"/>
            <p:nvPr/>
          </p:nvSpPr>
          <p:spPr>
            <a:xfrm>
              <a:off x="0" y="-38100"/>
              <a:ext cx="2028074" cy="187107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rot="-2489216">
            <a:off x="-4237165" y="5222201"/>
            <a:ext cx="7700344" cy="13744574"/>
            <a:chOff x="0" y="0"/>
            <a:chExt cx="2028074" cy="3619970"/>
          </a:xfrm>
        </p:grpSpPr>
        <p:sp>
          <p:nvSpPr>
            <p:cNvPr id="13" name="Freeform 13"/>
            <p:cNvSpPr/>
            <p:nvPr/>
          </p:nvSpPr>
          <p:spPr>
            <a:xfrm>
              <a:off x="0" y="0"/>
              <a:ext cx="2028074" cy="3619970"/>
            </a:xfrm>
            <a:custGeom>
              <a:avLst/>
              <a:gdLst/>
              <a:ahLst/>
              <a:cxnLst/>
              <a:rect l="l" t="t" r="r" b="b"/>
              <a:pathLst>
                <a:path w="2028074" h="3619970">
                  <a:moveTo>
                    <a:pt x="0" y="0"/>
                  </a:moveTo>
                  <a:lnTo>
                    <a:pt x="2028074" y="0"/>
                  </a:lnTo>
                  <a:lnTo>
                    <a:pt x="2028074" y="3619970"/>
                  </a:lnTo>
                  <a:lnTo>
                    <a:pt x="0" y="3619970"/>
                  </a:lnTo>
                  <a:close/>
                </a:path>
              </a:pathLst>
            </a:custGeom>
            <a:solidFill>
              <a:srgbClr val="5EA6E7"/>
            </a:solidFill>
          </p:spPr>
        </p:sp>
        <p:sp>
          <p:nvSpPr>
            <p:cNvPr id="14" name="TextBox 14"/>
            <p:cNvSpPr txBox="1"/>
            <p:nvPr/>
          </p:nvSpPr>
          <p:spPr>
            <a:xfrm>
              <a:off x="0" y="-38100"/>
              <a:ext cx="2028074" cy="365807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rot="-2489216">
            <a:off x="14000460" y="-631168"/>
            <a:ext cx="7700344" cy="1959847"/>
            <a:chOff x="0" y="0"/>
            <a:chExt cx="2028074" cy="516174"/>
          </a:xfrm>
        </p:grpSpPr>
        <p:sp>
          <p:nvSpPr>
            <p:cNvPr id="16" name="Freeform 16"/>
            <p:cNvSpPr/>
            <p:nvPr/>
          </p:nvSpPr>
          <p:spPr>
            <a:xfrm>
              <a:off x="0" y="0"/>
              <a:ext cx="2028074" cy="516174"/>
            </a:xfrm>
            <a:custGeom>
              <a:avLst/>
              <a:gdLst/>
              <a:ahLst/>
              <a:cxnLst/>
              <a:rect l="l" t="t" r="r" b="b"/>
              <a:pathLst>
                <a:path w="2028074" h="516174">
                  <a:moveTo>
                    <a:pt x="0" y="0"/>
                  </a:moveTo>
                  <a:lnTo>
                    <a:pt x="2028074" y="0"/>
                  </a:lnTo>
                  <a:lnTo>
                    <a:pt x="2028074" y="516174"/>
                  </a:lnTo>
                  <a:lnTo>
                    <a:pt x="0" y="516174"/>
                  </a:lnTo>
                  <a:close/>
                </a:path>
              </a:pathLst>
            </a:custGeom>
            <a:solidFill>
              <a:srgbClr val="3F70B6"/>
            </a:solidFill>
          </p:spPr>
        </p:sp>
        <p:sp>
          <p:nvSpPr>
            <p:cNvPr id="17" name="TextBox 17"/>
            <p:cNvSpPr txBox="1"/>
            <p:nvPr/>
          </p:nvSpPr>
          <p:spPr>
            <a:xfrm>
              <a:off x="0" y="-38100"/>
              <a:ext cx="2028074" cy="55427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rot="-2489216">
            <a:off x="-3645692" y="10007098"/>
            <a:ext cx="7700344" cy="1972618"/>
            <a:chOff x="0" y="0"/>
            <a:chExt cx="2028074" cy="519537"/>
          </a:xfrm>
        </p:grpSpPr>
        <p:sp>
          <p:nvSpPr>
            <p:cNvPr id="19" name="Freeform 19"/>
            <p:cNvSpPr/>
            <p:nvPr/>
          </p:nvSpPr>
          <p:spPr>
            <a:xfrm>
              <a:off x="0" y="0"/>
              <a:ext cx="2028074" cy="519537"/>
            </a:xfrm>
            <a:custGeom>
              <a:avLst/>
              <a:gdLst/>
              <a:ahLst/>
              <a:cxnLst/>
              <a:rect l="l" t="t" r="r" b="b"/>
              <a:pathLst>
                <a:path w="2028074" h="519537">
                  <a:moveTo>
                    <a:pt x="0" y="0"/>
                  </a:moveTo>
                  <a:lnTo>
                    <a:pt x="2028074" y="0"/>
                  </a:lnTo>
                  <a:lnTo>
                    <a:pt x="2028074" y="519537"/>
                  </a:lnTo>
                  <a:lnTo>
                    <a:pt x="0" y="519537"/>
                  </a:lnTo>
                  <a:close/>
                </a:path>
              </a:pathLst>
            </a:custGeom>
            <a:solidFill>
              <a:srgbClr val="3F70B6"/>
            </a:solidFill>
          </p:spPr>
        </p:sp>
        <p:sp>
          <p:nvSpPr>
            <p:cNvPr id="20" name="TextBox 20"/>
            <p:cNvSpPr txBox="1"/>
            <p:nvPr/>
          </p:nvSpPr>
          <p:spPr>
            <a:xfrm>
              <a:off x="0" y="-38100"/>
              <a:ext cx="2028074" cy="55763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12191614" y="8555494"/>
            <a:ext cx="5067686" cy="702806"/>
            <a:chOff x="0" y="0"/>
            <a:chExt cx="1334699" cy="185101"/>
          </a:xfrm>
        </p:grpSpPr>
        <p:sp>
          <p:nvSpPr>
            <p:cNvPr id="22" name="Freeform 22"/>
            <p:cNvSpPr/>
            <p:nvPr/>
          </p:nvSpPr>
          <p:spPr>
            <a:xfrm>
              <a:off x="0" y="0"/>
              <a:ext cx="1334699" cy="185101"/>
            </a:xfrm>
            <a:custGeom>
              <a:avLst/>
              <a:gdLst/>
              <a:ahLst/>
              <a:cxnLst/>
              <a:rect l="l" t="t" r="r" b="b"/>
              <a:pathLst>
                <a:path w="1334699" h="185101">
                  <a:moveTo>
                    <a:pt x="92551" y="0"/>
                  </a:moveTo>
                  <a:lnTo>
                    <a:pt x="1242149" y="0"/>
                  </a:lnTo>
                  <a:cubicBezTo>
                    <a:pt x="1266694" y="0"/>
                    <a:pt x="1290235" y="9751"/>
                    <a:pt x="1307592" y="27107"/>
                  </a:cubicBezTo>
                  <a:cubicBezTo>
                    <a:pt x="1324948" y="44464"/>
                    <a:pt x="1334699" y="68005"/>
                    <a:pt x="1334699" y="92551"/>
                  </a:cubicBezTo>
                  <a:lnTo>
                    <a:pt x="1334699" y="92551"/>
                  </a:lnTo>
                  <a:cubicBezTo>
                    <a:pt x="1334699" y="143665"/>
                    <a:pt x="1293263" y="185101"/>
                    <a:pt x="1242149"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3" name="TextBox 23"/>
            <p:cNvSpPr txBox="1"/>
            <p:nvPr/>
          </p:nvSpPr>
          <p:spPr>
            <a:xfrm>
              <a:off x="0" y="-38100"/>
              <a:ext cx="1334699" cy="223201"/>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1028700" y="1028700"/>
            <a:ext cx="4198153" cy="702806"/>
            <a:chOff x="0" y="0"/>
            <a:chExt cx="1105686" cy="185101"/>
          </a:xfrm>
        </p:grpSpPr>
        <p:sp>
          <p:nvSpPr>
            <p:cNvPr id="25" name="Freeform 25"/>
            <p:cNvSpPr/>
            <p:nvPr/>
          </p:nvSpPr>
          <p:spPr>
            <a:xfrm>
              <a:off x="0" y="0"/>
              <a:ext cx="1105686" cy="185101"/>
            </a:xfrm>
            <a:custGeom>
              <a:avLst/>
              <a:gdLst/>
              <a:ahLst/>
              <a:cxnLst/>
              <a:rect l="l" t="t" r="r" b="b"/>
              <a:pathLst>
                <a:path w="1105686" h="185101">
                  <a:moveTo>
                    <a:pt x="92551" y="0"/>
                  </a:moveTo>
                  <a:lnTo>
                    <a:pt x="1013136" y="0"/>
                  </a:lnTo>
                  <a:cubicBezTo>
                    <a:pt x="1037682" y="0"/>
                    <a:pt x="1061222" y="9751"/>
                    <a:pt x="1078579" y="27107"/>
                  </a:cubicBezTo>
                  <a:cubicBezTo>
                    <a:pt x="1095935" y="44464"/>
                    <a:pt x="1105686" y="68005"/>
                    <a:pt x="1105686" y="92551"/>
                  </a:cubicBezTo>
                  <a:lnTo>
                    <a:pt x="1105686" y="92551"/>
                  </a:lnTo>
                  <a:cubicBezTo>
                    <a:pt x="1105686" y="143665"/>
                    <a:pt x="1064250" y="185101"/>
                    <a:pt x="1013136" y="185101"/>
                  </a:cubicBezTo>
                  <a:lnTo>
                    <a:pt x="92551" y="185101"/>
                  </a:lnTo>
                  <a:cubicBezTo>
                    <a:pt x="68005" y="185101"/>
                    <a:pt x="44464" y="175350"/>
                    <a:pt x="27107" y="157994"/>
                  </a:cubicBezTo>
                  <a:cubicBezTo>
                    <a:pt x="9751" y="140637"/>
                    <a:pt x="0" y="117097"/>
                    <a:pt x="0" y="92551"/>
                  </a:cubicBezTo>
                  <a:lnTo>
                    <a:pt x="0" y="92551"/>
                  </a:lnTo>
                  <a:cubicBezTo>
                    <a:pt x="0" y="68005"/>
                    <a:pt x="9751" y="44464"/>
                    <a:pt x="27107" y="27107"/>
                  </a:cubicBezTo>
                  <a:cubicBezTo>
                    <a:pt x="44464" y="9751"/>
                    <a:pt x="68005" y="0"/>
                    <a:pt x="92551" y="0"/>
                  </a:cubicBezTo>
                  <a:close/>
                </a:path>
              </a:pathLst>
            </a:custGeom>
            <a:solidFill>
              <a:srgbClr val="34609F"/>
            </a:solidFill>
          </p:spPr>
        </p:sp>
        <p:sp>
          <p:nvSpPr>
            <p:cNvPr id="26" name="TextBox 26"/>
            <p:cNvSpPr txBox="1"/>
            <p:nvPr/>
          </p:nvSpPr>
          <p:spPr>
            <a:xfrm>
              <a:off x="0" y="-38100"/>
              <a:ext cx="1105686" cy="223201"/>
            </a:xfrm>
            <a:prstGeom prst="rect">
              <a:avLst/>
            </a:prstGeom>
          </p:spPr>
          <p:txBody>
            <a:bodyPr lIns="50800" tIns="50800" rIns="50800" bIns="50800" rtlCol="0" anchor="ctr"/>
            <a:lstStyle/>
            <a:p>
              <a:pPr marL="0" lvl="0" indent="0" algn="ctr">
                <a:lnSpc>
                  <a:spcPts val="2659"/>
                </a:lnSpc>
              </a:pPr>
              <a:endParaRPr/>
            </a:p>
          </p:txBody>
        </p:sp>
      </p:grpSp>
      <p:sp>
        <p:nvSpPr>
          <p:cNvPr id="27" name="TextBox 27"/>
          <p:cNvSpPr txBox="1"/>
          <p:nvPr/>
        </p:nvSpPr>
        <p:spPr>
          <a:xfrm>
            <a:off x="2632672" y="3991807"/>
            <a:ext cx="13022655" cy="3916945"/>
          </a:xfrm>
          <a:prstGeom prst="rect">
            <a:avLst/>
          </a:prstGeom>
        </p:spPr>
        <p:txBody>
          <a:bodyPr lIns="0" tIns="0" rIns="0" bIns="0" rtlCol="0" anchor="t">
            <a:spAutoFit/>
          </a:bodyPr>
          <a:lstStyle/>
          <a:p>
            <a:pPr marL="0" lvl="0" indent="0" algn="ctr">
              <a:lnSpc>
                <a:spcPts val="15525"/>
              </a:lnSpc>
            </a:pPr>
            <a:r>
              <a:rPr lang="en-US" sz="11089" b="1" spc="77">
                <a:solidFill>
                  <a:srgbClr val="193B6A"/>
                </a:solidFill>
                <a:latin typeface="Liberation Sans Bold"/>
                <a:ea typeface="Liberation Sans Bold"/>
                <a:cs typeface="Liberation Sans Bold"/>
                <a:sym typeface="Liberation Sans Bold"/>
              </a:rPr>
              <a:t>THANK YOU FOR YOUR ATTENTION!</a:t>
            </a:r>
          </a:p>
        </p:txBody>
      </p:sp>
      <p:sp>
        <p:nvSpPr>
          <p:cNvPr id="28" name="TextBox 28"/>
          <p:cNvSpPr txBox="1"/>
          <p:nvPr/>
        </p:nvSpPr>
        <p:spPr>
          <a:xfrm>
            <a:off x="12383206" y="8692803"/>
            <a:ext cx="4684502" cy="329023"/>
          </a:xfrm>
          <a:prstGeom prst="rect">
            <a:avLst/>
          </a:prstGeom>
        </p:spPr>
        <p:txBody>
          <a:bodyPr lIns="0" tIns="0" rIns="0" bIns="0" rtlCol="0" anchor="t">
            <a:spAutoFit/>
          </a:bodyPr>
          <a:lstStyle/>
          <a:p>
            <a:pPr marL="0" lvl="0" indent="0" algn="ctr">
              <a:lnSpc>
                <a:spcPts val="2453"/>
              </a:lnSpc>
            </a:pPr>
            <a:r>
              <a:rPr lang="en-US" sz="2453">
                <a:solidFill>
                  <a:srgbClr val="F2F2F4"/>
                </a:solidFill>
                <a:latin typeface="Arial"/>
                <a:ea typeface="Arial"/>
                <a:cs typeface="Arial"/>
                <a:sym typeface="Arial"/>
              </a:rPr>
              <a:t>Ankan Dey | Roll No: 25AG10026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685</Words>
  <Application>Microsoft Office PowerPoint</Application>
  <PresentationFormat>Custom</PresentationFormat>
  <Paragraphs>68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Liberation Sans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Kernel Modules: Eudyptula Task Overview</dc:title>
  <dc:creator>User</dc:creator>
  <cp:lastModifiedBy>ANKAN DEY</cp:lastModifiedBy>
  <cp:revision>2</cp:revision>
  <dcterms:created xsi:type="dcterms:W3CDTF">2006-08-16T00:00:00Z</dcterms:created>
  <dcterms:modified xsi:type="dcterms:W3CDTF">2026-04-10T10:33:31Z</dcterms:modified>
  <dc:identifier>DAHGch4CdPY</dc:identifier>
</cp:coreProperties>
</file>